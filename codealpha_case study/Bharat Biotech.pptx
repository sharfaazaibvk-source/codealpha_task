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58" r:id="rId5"/>
    <p:sldId id="259" r:id="rId6"/>
    <p:sldId id="260" r:id="rId7"/>
    <p:sldId id="262"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FDCB"/>
    <a:srgbClr val="CCFF99"/>
    <a:srgbClr val="B7F6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9B5620-E24A-4607-9715-5E8C561236FF}" v="31" dt="2026-09-28T12:34:19.9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3" d="100"/>
          <a:sy n="43" d="100"/>
        </p:scale>
        <p:origin x="121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16C5-8D8C-4997-09BF-35BA780A10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576F84-C4E0-88FE-7BCE-A7CD3BCA89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B2AFD99-8C06-9BE8-0A21-0A1F4BE0D7DA}"/>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5" name="Footer Placeholder 4">
            <a:extLst>
              <a:ext uri="{FF2B5EF4-FFF2-40B4-BE49-F238E27FC236}">
                <a16:creationId xmlns:a16="http://schemas.microsoft.com/office/drawing/2014/main" id="{FC4A3F18-1F59-E64C-5101-7EE87D001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C29C41-DBEA-95A4-0AF5-26B6E7AC7969}"/>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728214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B3CDC-3B07-5013-668A-E5DEAA1028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35D57C-9D1F-AAB8-0EE9-BF8BEA82DE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CF15FB-AD45-5F17-5942-2079C08E2503}"/>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5" name="Footer Placeholder 4">
            <a:extLst>
              <a:ext uri="{FF2B5EF4-FFF2-40B4-BE49-F238E27FC236}">
                <a16:creationId xmlns:a16="http://schemas.microsoft.com/office/drawing/2014/main" id="{FEBD2DDA-886B-37E7-7330-7BBB473F96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88BF2A-7A82-23CF-178B-5F806FD884FF}"/>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3120916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28CD-0E2A-0C05-E7E2-C11BA640D9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0CB6BA-CA78-A395-AD09-BB69B29CE9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BBF112-7F1D-9099-0849-8DB38E1FC722}"/>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5" name="Footer Placeholder 4">
            <a:extLst>
              <a:ext uri="{FF2B5EF4-FFF2-40B4-BE49-F238E27FC236}">
                <a16:creationId xmlns:a16="http://schemas.microsoft.com/office/drawing/2014/main" id="{4DECCCBE-4D1C-4ECD-AEFE-C35A1078AA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C5829F-4761-DBCE-F43F-02FD6682A0D7}"/>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2840305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3BD14-3F8B-50A9-B5E9-05089D92EB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8E3E33-E9D2-9EA2-2BD8-6E58C46C1A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057B861-8047-EA8D-0C30-34DAA53438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33D6C17-099C-C16B-A1E0-EDA4F4DE5B74}"/>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6" name="Footer Placeholder 5">
            <a:extLst>
              <a:ext uri="{FF2B5EF4-FFF2-40B4-BE49-F238E27FC236}">
                <a16:creationId xmlns:a16="http://schemas.microsoft.com/office/drawing/2014/main" id="{5C367C4F-7E57-37E9-89C9-B173F0440A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A373A3-5D49-3AB1-398E-938079B1863C}"/>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1990899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B64A0-A308-79F9-4F7C-31E3AB95F90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64FB8A-A4EB-70F4-A95C-24D6BE84F2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3BBA0D-9888-8AA6-F1E9-FA910E936E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1E6EFE-25DC-1804-41F1-35D08536AC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1F3163-A211-AE35-91F1-16EDBEB3E9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167301-B518-B14A-6E43-4D9F06D9231D}"/>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8" name="Footer Placeholder 7">
            <a:extLst>
              <a:ext uri="{FF2B5EF4-FFF2-40B4-BE49-F238E27FC236}">
                <a16:creationId xmlns:a16="http://schemas.microsoft.com/office/drawing/2014/main" id="{489884C7-0D9D-11CE-02D2-7DCE98E3D3A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00005A8-C369-D305-2CF3-780973D66716}"/>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3201503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D884E-1715-706A-C760-C9435D30D8B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D21A934-3447-9597-322F-B4E83E9D51EA}"/>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4" name="Footer Placeholder 3">
            <a:extLst>
              <a:ext uri="{FF2B5EF4-FFF2-40B4-BE49-F238E27FC236}">
                <a16:creationId xmlns:a16="http://schemas.microsoft.com/office/drawing/2014/main" id="{E1C3604B-8717-F31F-8A34-2B570549CAB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ECB275-1DF6-D14D-0EE2-2097C48C9D15}"/>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3195476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6290F9-8ACB-3B97-7A66-CA6BC58F3461}"/>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3" name="Footer Placeholder 2">
            <a:extLst>
              <a:ext uri="{FF2B5EF4-FFF2-40B4-BE49-F238E27FC236}">
                <a16:creationId xmlns:a16="http://schemas.microsoft.com/office/drawing/2014/main" id="{A737A2FF-9B27-0A1B-A5EC-493955DE1F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5E6F047-2F00-28CA-AE03-077DFF3609B8}"/>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2305579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A92E-7444-D66A-6C49-1402FCCC49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B83A7F-8899-9F8A-D32D-4D8ACA962E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2978FAF-BEB1-2E75-E768-3A2692CDC5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DFFBB2-AB9D-1040-5975-527D8DD6CF59}"/>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6" name="Footer Placeholder 5">
            <a:extLst>
              <a:ext uri="{FF2B5EF4-FFF2-40B4-BE49-F238E27FC236}">
                <a16:creationId xmlns:a16="http://schemas.microsoft.com/office/drawing/2014/main" id="{2AF66E51-3C9D-8664-2118-424B1251CD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969C80-D36C-3820-3A8B-9094CC558AAE}"/>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2393953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E4351-CFA0-D9F5-873F-F6A18A00E2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33F66-BACA-F9B6-0912-750AAA71B1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2D2B82-1E84-3910-E675-67F6DB9B09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E4980F-B60B-E7B8-E7C4-8CDFBCF71C31}"/>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6" name="Footer Placeholder 5">
            <a:extLst>
              <a:ext uri="{FF2B5EF4-FFF2-40B4-BE49-F238E27FC236}">
                <a16:creationId xmlns:a16="http://schemas.microsoft.com/office/drawing/2014/main" id="{6DEE1A5F-C20A-46ED-FEA1-60F664B22A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A1E99B-D3E7-3A7B-D5BD-AEC66E5B23A9}"/>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3565521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7DD61-5455-2FF5-4BFE-463FC28DE3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A6AA80-7579-1824-6EC6-6B06D0D182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0A2649-50BC-90AE-FEFB-F9B07346D456}"/>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5" name="Footer Placeholder 4">
            <a:extLst>
              <a:ext uri="{FF2B5EF4-FFF2-40B4-BE49-F238E27FC236}">
                <a16:creationId xmlns:a16="http://schemas.microsoft.com/office/drawing/2014/main" id="{9696D2C5-34BF-3657-269C-6878926126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497312-7641-C01F-3CE8-493218B979DE}"/>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372158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C0CCBF-CFD2-8A11-27C2-021611E6B5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98A547-8818-1B89-B80E-463C077C24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0D6205-69E3-4B8F-73C3-D57BB40B9FCE}"/>
              </a:ext>
            </a:extLst>
          </p:cNvPr>
          <p:cNvSpPr>
            <a:spLocks noGrp="1"/>
          </p:cNvSpPr>
          <p:nvPr>
            <p:ph type="dt" sz="half" idx="10"/>
          </p:nvPr>
        </p:nvSpPr>
        <p:spPr/>
        <p:txBody>
          <a:bodyPr/>
          <a:lstStyle/>
          <a:p>
            <a:fld id="{B2DE2FEC-E18D-4BF9-95BA-B6C559B70C35}" type="datetimeFigureOut">
              <a:rPr lang="en-IN" smtClean="0"/>
              <a:t>30-09-2026</a:t>
            </a:fld>
            <a:endParaRPr lang="en-IN"/>
          </a:p>
        </p:txBody>
      </p:sp>
      <p:sp>
        <p:nvSpPr>
          <p:cNvPr id="5" name="Footer Placeholder 4">
            <a:extLst>
              <a:ext uri="{FF2B5EF4-FFF2-40B4-BE49-F238E27FC236}">
                <a16:creationId xmlns:a16="http://schemas.microsoft.com/office/drawing/2014/main" id="{AE92996F-A6E7-3C54-F9EF-8110405B39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BEB94A-408C-2069-D84B-525E0F09F9F2}"/>
              </a:ext>
            </a:extLst>
          </p:cNvPr>
          <p:cNvSpPr>
            <a:spLocks noGrp="1"/>
          </p:cNvSpPr>
          <p:nvPr>
            <p:ph type="sldNum" sz="quarter" idx="12"/>
          </p:nvPr>
        </p:nvSpPr>
        <p:spPr/>
        <p:txBody>
          <a:bodyPr/>
          <a:lstStyle/>
          <a:p>
            <a:fld id="{AFC73D3C-D9D4-4534-AC24-B4791A0D4DF1}" type="slidenum">
              <a:rPr lang="en-IN" smtClean="0"/>
              <a:t>‹#›</a:t>
            </a:fld>
            <a:endParaRPr lang="en-IN"/>
          </a:p>
        </p:txBody>
      </p:sp>
    </p:spTree>
    <p:extLst>
      <p:ext uri="{BB962C8B-B14F-4D97-AF65-F5344CB8AC3E}">
        <p14:creationId xmlns:p14="http://schemas.microsoft.com/office/powerpoint/2010/main" val="1141632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4D7815-7128-E65C-C8F8-F420654860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EF4A88-ADE4-EEEB-F8FE-65764E2270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EF366D-EB70-26AD-E595-CF7EF2E319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DE2FEC-E18D-4BF9-95BA-B6C559B70C35}" type="datetimeFigureOut">
              <a:rPr lang="en-IN" smtClean="0"/>
              <a:t>30-09-2026</a:t>
            </a:fld>
            <a:endParaRPr lang="en-IN"/>
          </a:p>
        </p:txBody>
      </p:sp>
      <p:sp>
        <p:nvSpPr>
          <p:cNvPr id="5" name="Footer Placeholder 4">
            <a:extLst>
              <a:ext uri="{FF2B5EF4-FFF2-40B4-BE49-F238E27FC236}">
                <a16:creationId xmlns:a16="http://schemas.microsoft.com/office/drawing/2014/main" id="{AA43D8C3-B7BF-BCD3-7178-D94D12E39E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9E506EC-28DF-2615-B621-72EC608848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C73D3C-D9D4-4534-AC24-B4791A0D4DF1}" type="slidenum">
              <a:rPr lang="en-IN" smtClean="0"/>
              <a:t>‹#›</a:t>
            </a:fld>
            <a:endParaRPr lang="en-IN"/>
          </a:p>
        </p:txBody>
      </p:sp>
    </p:spTree>
    <p:extLst>
      <p:ext uri="{BB962C8B-B14F-4D97-AF65-F5344CB8AC3E}">
        <p14:creationId xmlns:p14="http://schemas.microsoft.com/office/powerpoint/2010/main" val="1062928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R Philosophy - Bharat Biotech - A Leading Biotech Company">
            <a:extLst>
              <a:ext uri="{FF2B5EF4-FFF2-40B4-BE49-F238E27FC236}">
                <a16:creationId xmlns:a16="http://schemas.microsoft.com/office/drawing/2014/main" id="{BC21FA69-219E-1003-3C75-F4D96776D0D1}"/>
              </a:ext>
            </a:extLst>
          </p:cNvPr>
          <p:cNvPicPr>
            <a:picLocks noChangeAspect="1"/>
          </p:cNvPicPr>
          <p:nvPr/>
        </p:nvPicPr>
        <p:blipFill>
          <a:blip r:embed="rId2">
            <a:alphaModFix amt="85000"/>
          </a:blip>
          <a:stretch>
            <a:fillRect/>
          </a:stretch>
        </p:blipFill>
        <p:spPr>
          <a:xfrm>
            <a:off x="0" y="0"/>
            <a:ext cx="12192000" cy="6867197"/>
          </a:xfrm>
          <a:prstGeom prst="rect">
            <a:avLst/>
          </a:prstGeom>
        </p:spPr>
      </p:pic>
      <p:sp>
        <p:nvSpPr>
          <p:cNvPr id="2" name="Title 1">
            <a:extLst>
              <a:ext uri="{FF2B5EF4-FFF2-40B4-BE49-F238E27FC236}">
                <a16:creationId xmlns:a16="http://schemas.microsoft.com/office/drawing/2014/main" id="{FE4BA814-185D-253A-EB4B-F4AC252469D7}"/>
              </a:ext>
            </a:extLst>
          </p:cNvPr>
          <p:cNvSpPr>
            <a:spLocks noGrp="1"/>
          </p:cNvSpPr>
          <p:nvPr>
            <p:ph type="ctrTitle"/>
          </p:nvPr>
        </p:nvSpPr>
        <p:spPr>
          <a:xfrm>
            <a:off x="883920" y="2560802"/>
            <a:ext cx="10424160" cy="1736395"/>
          </a:xfrm>
        </p:spPr>
        <p:txBody>
          <a:bodyPr>
            <a:normAutofit/>
          </a:bodyPr>
          <a:lstStyle/>
          <a:p>
            <a:r>
              <a:rPr lang="en-IN" sz="9600" b="1" i="1" dirty="0">
                <a:latin typeface="Times New Roman" panose="02020603050405020304" pitchFamily="18" charset="0"/>
                <a:cs typeface="Times New Roman" panose="02020603050405020304" pitchFamily="18" charset="0"/>
              </a:rPr>
              <a:t>Bharat Biotech</a:t>
            </a:r>
          </a:p>
        </p:txBody>
      </p:sp>
    </p:spTree>
    <p:extLst>
      <p:ext uri="{BB962C8B-B14F-4D97-AF65-F5344CB8AC3E}">
        <p14:creationId xmlns:p14="http://schemas.microsoft.com/office/powerpoint/2010/main" val="3787729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DC27D08B-C94C-500B-616B-3119330F8DF1}"/>
            </a:ext>
          </a:extLst>
        </p:cNvPr>
        <p:cNvGrpSpPr/>
        <p:nvPr/>
      </p:nvGrpSpPr>
      <p:grpSpPr>
        <a:xfrm>
          <a:off x="0" y="0"/>
          <a:ext cx="0" cy="0"/>
          <a:chOff x="0" y="0"/>
          <a:chExt cx="0" cy="0"/>
        </a:xfrm>
      </p:grpSpPr>
      <p:pic>
        <p:nvPicPr>
          <p:cNvPr id="7" name="Picture 6" descr="HR Philosophy - Bharat Biotech - A Leading Biotech Company">
            <a:extLst>
              <a:ext uri="{FF2B5EF4-FFF2-40B4-BE49-F238E27FC236}">
                <a16:creationId xmlns:a16="http://schemas.microsoft.com/office/drawing/2014/main" id="{1856E440-139B-3992-ED78-BFE25625D7AC}"/>
              </a:ext>
            </a:extLst>
          </p:cNvPr>
          <p:cNvPicPr>
            <a:picLocks noChangeAspect="1"/>
          </p:cNvPicPr>
          <p:nvPr/>
        </p:nvPicPr>
        <p:blipFill>
          <a:blip r:embed="rId2">
            <a:alphaModFix amt="32000"/>
          </a:blip>
          <a:stretch>
            <a:fillRect/>
          </a:stretch>
        </p:blipFill>
        <p:spPr>
          <a:xfrm>
            <a:off x="0" y="-9197"/>
            <a:ext cx="12192000" cy="6867197"/>
          </a:xfrm>
          <a:prstGeom prst="rect">
            <a:avLst/>
          </a:prstGeom>
        </p:spPr>
      </p:pic>
      <p:sp>
        <p:nvSpPr>
          <p:cNvPr id="4" name="Title 1">
            <a:extLst>
              <a:ext uri="{FF2B5EF4-FFF2-40B4-BE49-F238E27FC236}">
                <a16:creationId xmlns:a16="http://schemas.microsoft.com/office/drawing/2014/main" id="{3E27EC83-0926-0DC9-F570-2F4579DA6914}"/>
              </a:ext>
            </a:extLst>
          </p:cNvPr>
          <p:cNvSpPr>
            <a:spLocks noGrp="1"/>
          </p:cNvSpPr>
          <p:nvPr>
            <p:ph type="title"/>
          </p:nvPr>
        </p:nvSpPr>
        <p:spPr>
          <a:xfrm>
            <a:off x="640652" y="539911"/>
            <a:ext cx="2770060" cy="563118"/>
          </a:xfrm>
        </p:spPr>
        <p:txBody>
          <a:bodyPr>
            <a:normAutofit fontScale="90000"/>
          </a:bodyPr>
          <a:lstStyle/>
          <a:p>
            <a:r>
              <a:rPr lang="en-IN" u="sng"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55BC91B4-5BE9-3015-C3D1-EBEC509AA1F6}"/>
              </a:ext>
            </a:extLst>
          </p:cNvPr>
          <p:cNvSpPr>
            <a:spLocks noGrp="1"/>
          </p:cNvSpPr>
          <p:nvPr>
            <p:ph idx="1"/>
          </p:nvPr>
        </p:nvSpPr>
        <p:spPr>
          <a:xfrm>
            <a:off x="640652" y="1360170"/>
            <a:ext cx="10910696" cy="5466588"/>
          </a:xfrm>
        </p:spPr>
        <p:txBody>
          <a:bodyPr>
            <a:normAutofit/>
          </a:bodyPr>
          <a:lstStyle/>
          <a:p>
            <a:pPr algn="just">
              <a:buFont typeface="Wingdings" panose="05000000000000000000" pitchFamily="2" charset="2"/>
              <a:buChar char="Ø"/>
            </a:pPr>
            <a:r>
              <a:rPr lang="en-IN" sz="2000" i="1" dirty="0"/>
              <a:t>Established in 1996 by Dr. Krishna M. Ella and Mrs. Suchitra K. Ella</a:t>
            </a:r>
          </a:p>
          <a:p>
            <a:pPr algn="just">
              <a:buFont typeface="Wingdings" panose="05000000000000000000" pitchFamily="2" charset="2"/>
              <a:buChar char="Ø"/>
            </a:pPr>
            <a:r>
              <a:rPr lang="en-IN" sz="2000" i="1" dirty="0"/>
              <a:t>headquartered in Genome Valley, Hyderabad, India.</a:t>
            </a:r>
          </a:p>
          <a:p>
            <a:pPr algn="just">
              <a:buFont typeface="Wingdings" panose="05000000000000000000" pitchFamily="2" charset="2"/>
              <a:buChar char="Ø"/>
            </a:pPr>
            <a:r>
              <a:rPr lang="en-IN" sz="2000" i="1" dirty="0"/>
              <a:t>Focus on product-oriented research, development, and manufacturing of vaccines and biotherapeutics, especially targeting infectious and neglected diseases</a:t>
            </a:r>
          </a:p>
          <a:p>
            <a:pPr algn="just">
              <a:buFont typeface="Wingdings" panose="05000000000000000000" pitchFamily="2" charset="2"/>
              <a:buChar char="Ø"/>
            </a:pPr>
            <a:r>
              <a:rPr lang="en-IN" sz="2000" i="1" dirty="0"/>
              <a:t>Features advanced Biosafety Level 3 (BSL3) laboratories and manufacturing facilities approved by global regulators like the USFDA, WHO, and KFDA</a:t>
            </a:r>
          </a:p>
          <a:p>
            <a:pPr algn="just">
              <a:buFont typeface="Wingdings" panose="05000000000000000000" pitchFamily="2" charset="2"/>
              <a:buChar char="Ø"/>
            </a:pPr>
            <a:r>
              <a:rPr lang="en-IN" sz="2000" i="1" dirty="0"/>
              <a:t>Bharat Biotech currently has a workforce of more than 4,000 employees, including scientists, researchers, manufacturing personnel, quality-control specialists and other professionals.</a:t>
            </a:r>
          </a:p>
          <a:p>
            <a:pPr algn="just">
              <a:buFont typeface="Wingdings" panose="05000000000000000000" pitchFamily="2" charset="2"/>
              <a:buChar char="Ø"/>
            </a:pPr>
            <a:r>
              <a:rPr lang="en-IN" sz="2000" i="1" dirty="0"/>
              <a:t>Bharat Biotech has supplied more than 10 billion vaccine doses globally and has supplied products to over 125 countries.</a:t>
            </a:r>
          </a:p>
          <a:p>
            <a:pPr algn="just">
              <a:buFont typeface="Wingdings" panose="05000000000000000000" pitchFamily="2" charset="2"/>
              <a:buChar char="Ø"/>
            </a:pPr>
            <a:r>
              <a:rPr lang="en-IN" sz="2000" i="1" dirty="0"/>
              <a:t>Bharat Biotech reports holding more than 160 global patents.</a:t>
            </a:r>
          </a:p>
        </p:txBody>
      </p:sp>
    </p:spTree>
    <p:extLst>
      <p:ext uri="{BB962C8B-B14F-4D97-AF65-F5344CB8AC3E}">
        <p14:creationId xmlns:p14="http://schemas.microsoft.com/office/powerpoint/2010/main" val="943954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Picture 4" descr="HR Philosophy - Bharat Biotech - A Leading Biotech Company">
            <a:extLst>
              <a:ext uri="{FF2B5EF4-FFF2-40B4-BE49-F238E27FC236}">
                <a16:creationId xmlns:a16="http://schemas.microsoft.com/office/drawing/2014/main" id="{E7C11702-104E-9A77-B18B-609D1EF5FD80}"/>
              </a:ext>
            </a:extLst>
          </p:cNvPr>
          <p:cNvPicPr>
            <a:picLocks noChangeAspect="1"/>
          </p:cNvPicPr>
          <p:nvPr/>
        </p:nvPicPr>
        <p:blipFill>
          <a:blip r:embed="rId2">
            <a:alphaModFix amt="32000"/>
          </a:blip>
          <a:stretch>
            <a:fillRect/>
          </a:stretch>
        </p:blipFill>
        <p:spPr>
          <a:xfrm>
            <a:off x="0" y="-1"/>
            <a:ext cx="12192000" cy="6867197"/>
          </a:xfrm>
          <a:prstGeom prst="rect">
            <a:avLst/>
          </a:prstGeom>
        </p:spPr>
      </p:pic>
      <p:sp>
        <p:nvSpPr>
          <p:cNvPr id="2" name="Title 1">
            <a:extLst>
              <a:ext uri="{FF2B5EF4-FFF2-40B4-BE49-F238E27FC236}">
                <a16:creationId xmlns:a16="http://schemas.microsoft.com/office/drawing/2014/main" id="{442AFA20-E2A8-28D1-2806-2D46D08CEA9C}"/>
              </a:ext>
            </a:extLst>
          </p:cNvPr>
          <p:cNvSpPr>
            <a:spLocks noGrp="1"/>
          </p:cNvSpPr>
          <p:nvPr>
            <p:ph type="title"/>
          </p:nvPr>
        </p:nvSpPr>
        <p:spPr>
          <a:xfrm>
            <a:off x="548640" y="-164307"/>
            <a:ext cx="4041648" cy="1009651"/>
          </a:xfrm>
        </p:spPr>
        <p:txBody>
          <a:bodyPr>
            <a:normAutofit/>
          </a:bodyPr>
          <a:lstStyle/>
          <a:p>
            <a:r>
              <a:rPr lang="en-IN" dirty="0">
                <a:latin typeface="Times New Roman" panose="02020603050405020304" pitchFamily="18" charset="0"/>
                <a:cs typeface="Times New Roman" panose="02020603050405020304" pitchFamily="18" charset="0"/>
              </a:rPr>
              <a:t>Products </a:t>
            </a:r>
          </a:p>
        </p:txBody>
      </p:sp>
      <p:sp>
        <p:nvSpPr>
          <p:cNvPr id="3" name="Content Placeholder 2">
            <a:extLst>
              <a:ext uri="{FF2B5EF4-FFF2-40B4-BE49-F238E27FC236}">
                <a16:creationId xmlns:a16="http://schemas.microsoft.com/office/drawing/2014/main" id="{BDA557A2-8827-9354-D2DD-088AC9F18BB8}"/>
              </a:ext>
            </a:extLst>
          </p:cNvPr>
          <p:cNvSpPr>
            <a:spLocks noGrp="1"/>
          </p:cNvSpPr>
          <p:nvPr>
            <p:ph idx="1"/>
          </p:nvPr>
        </p:nvSpPr>
        <p:spPr>
          <a:xfrm>
            <a:off x="123826" y="667512"/>
            <a:ext cx="9525000" cy="6466713"/>
          </a:xfrm>
        </p:spPr>
        <p:txBody>
          <a:bodyPr>
            <a:normAutofit/>
          </a:bodyPr>
          <a:lstStyle/>
          <a:p>
            <a:pPr marL="514350" indent="-514350">
              <a:buFont typeface="+mj-lt"/>
              <a:buAutoNum type="arabicPeriod"/>
            </a:pPr>
            <a:r>
              <a:rPr lang="en-IN" sz="2400" i="1" u="sng" dirty="0" err="1">
                <a:latin typeface="Times New Roman" panose="02020603050405020304" pitchFamily="18" charset="0"/>
                <a:cs typeface="Times New Roman" panose="02020603050405020304" pitchFamily="18" charset="0"/>
              </a:rPr>
              <a:t>Typbar</a:t>
            </a:r>
            <a:r>
              <a:rPr lang="en-IN" sz="2400" i="1" u="sng" dirty="0">
                <a:latin typeface="Times New Roman" panose="02020603050405020304" pitchFamily="18" charset="0"/>
                <a:cs typeface="Times New Roman" panose="02020603050405020304" pitchFamily="18" charset="0"/>
              </a:rPr>
              <a:t> TCV</a:t>
            </a:r>
            <a:r>
              <a:rPr lang="en-IN" sz="2400" i="1" u="sng" baseline="30000" dirty="0">
                <a:latin typeface="Times New Roman" panose="02020603050405020304" pitchFamily="18" charset="0"/>
                <a:cs typeface="Times New Roman" panose="02020603050405020304" pitchFamily="18" charset="0"/>
              </a:rPr>
              <a:t>®-</a:t>
            </a:r>
            <a:r>
              <a:rPr lang="en-IN" sz="2400" i="1" u="sng" dirty="0">
                <a:latin typeface="Times New Roman" panose="02020603050405020304" pitchFamily="18" charset="0"/>
                <a:cs typeface="Times New Roman" panose="02020603050405020304" pitchFamily="18" charset="0"/>
              </a:rPr>
              <a:t> (Typhoid Vi Conjugate Vaccine )</a:t>
            </a:r>
            <a:endParaRPr lang="en-IN" sz="2400" i="1" u="sng" baseline="30000" dirty="0">
              <a:latin typeface="Times New Roman" panose="02020603050405020304" pitchFamily="18" charset="0"/>
              <a:cs typeface="Times New Roman" panose="02020603050405020304" pitchFamily="18" charset="0"/>
            </a:endParaRPr>
          </a:p>
          <a:p>
            <a:pPr algn="just"/>
            <a:r>
              <a:rPr lang="en-IN" sz="1600" i="1" dirty="0" err="1"/>
              <a:t>Typbar</a:t>
            </a:r>
            <a:r>
              <a:rPr lang="en-IN" sz="1600" i="1" dirty="0"/>
              <a:t> TCV</a:t>
            </a:r>
            <a:r>
              <a:rPr lang="en-IN" sz="1600" i="1" baseline="30000" dirty="0"/>
              <a:t>®</a:t>
            </a:r>
            <a:r>
              <a:rPr lang="en-IN" sz="1600" i="1" dirty="0"/>
              <a:t> is the world’s first clinically proven conjugate Typhoid vaccine and also the first vaccine to be approved for infants below 2 years of age.</a:t>
            </a:r>
          </a:p>
          <a:p>
            <a:pPr algn="just"/>
            <a:r>
              <a:rPr lang="en-IN" sz="1600" i="1" dirty="0"/>
              <a:t>Each 0.5 mL of dose contains: Purified Vi-Capsular Polysaccharide of S. typhi Ty2 conjugated to Tetanus Toxoid: 25 µg. Pharmaceutical Form: Sterile Solution for Injection</a:t>
            </a:r>
          </a:p>
          <a:p>
            <a:pPr algn="just"/>
            <a:r>
              <a:rPr lang="en-IN" sz="1600" i="1" dirty="0"/>
              <a:t>TYPBAR-TCV® should be given intramuscularly in the anterolateral aspect of thigh in infants ≤12 months of age or in the upper arm muscle in children ≥12 months of age and adults. Single dose of any of Typhoid conjugate vaccine is recommended from 6 months onwards.</a:t>
            </a:r>
          </a:p>
          <a:p>
            <a:pPr algn="just"/>
            <a:r>
              <a:rPr lang="en-IN" sz="1600" i="1" dirty="0" err="1"/>
              <a:t>Typbar</a:t>
            </a:r>
            <a:r>
              <a:rPr lang="en-IN" sz="1600" i="1" dirty="0"/>
              <a:t>-TCV induces T-cell-dependent anti-Vi antibody and immune-memory responses against S. Typhi</a:t>
            </a:r>
          </a:p>
          <a:p>
            <a:pPr algn="just"/>
            <a:r>
              <a:rPr lang="en-IN" sz="1600" i="1" dirty="0"/>
              <a:t>The safety of </a:t>
            </a:r>
            <a:r>
              <a:rPr lang="en-IN" sz="1600" i="1" dirty="0" err="1"/>
              <a:t>Typbar</a:t>
            </a:r>
            <a:r>
              <a:rPr lang="en-IN" sz="1600" i="1" dirty="0"/>
              <a:t>-TCV® vaccine was established in phase II and III clinical trials.</a:t>
            </a:r>
          </a:p>
          <a:p>
            <a:pPr algn="just">
              <a:buFont typeface="Wingdings" panose="05000000000000000000" pitchFamily="2" charset="2"/>
              <a:buChar char="Ø"/>
            </a:pPr>
            <a:r>
              <a:rPr lang="en-IN" sz="1600" i="1" dirty="0"/>
              <a:t> In phase II, the testing was done on 100 individuals(2-17 years). The commonly observed adverse effects were fever, headache, swelling and pain at the place of injection.</a:t>
            </a:r>
          </a:p>
          <a:p>
            <a:pPr algn="just">
              <a:buFont typeface="Wingdings" panose="05000000000000000000" pitchFamily="2" charset="2"/>
              <a:buChar char="Ø"/>
            </a:pPr>
            <a:r>
              <a:rPr lang="en-IN" sz="1600" i="1" dirty="0"/>
              <a:t>In phase III, testing was done on 981 healthy subjects which were divided into two cohorts. The first group had </a:t>
            </a:r>
            <a:r>
              <a:rPr lang="en-IN" sz="1600" b="1" i="1" dirty="0"/>
              <a:t>327 children aged 6 months to 2 years</a:t>
            </a:r>
            <a:r>
              <a:rPr lang="en-IN" sz="1600" i="1" dirty="0"/>
              <a:t>, who received one dose of </a:t>
            </a:r>
            <a:r>
              <a:rPr lang="en-IN" sz="1600" i="1" dirty="0" err="1"/>
              <a:t>Typbar</a:t>
            </a:r>
            <a:r>
              <a:rPr lang="en-IN" sz="1600" i="1" dirty="0"/>
              <a:t>-TCV®. The second group had </a:t>
            </a:r>
            <a:r>
              <a:rPr lang="en-IN" sz="1600" b="1" i="1" dirty="0"/>
              <a:t>654 people aged over 2 to 45 years</a:t>
            </a:r>
            <a:r>
              <a:rPr lang="en-IN" sz="1600" i="1" dirty="0"/>
              <a:t>, who were randomly divided into two equal groups. One group received </a:t>
            </a:r>
            <a:r>
              <a:rPr lang="en-IN" sz="1600" i="1" dirty="0" err="1"/>
              <a:t>Typbar</a:t>
            </a:r>
            <a:r>
              <a:rPr lang="en-IN" sz="1600" i="1" dirty="0"/>
              <a:t>-TCV® and the other received a Vi polysaccharide vaccine for comparison. </a:t>
            </a:r>
          </a:p>
          <a:p>
            <a:pPr algn="just"/>
            <a:r>
              <a:rPr lang="en-IN" sz="1600" i="1" dirty="0"/>
              <a:t>Non-clinical toxicity studies of </a:t>
            </a:r>
            <a:r>
              <a:rPr lang="en-IN" sz="1600" i="1" dirty="0" err="1"/>
              <a:t>Typbar</a:t>
            </a:r>
            <a:r>
              <a:rPr lang="en-IN" sz="1600" i="1" dirty="0"/>
              <a:t>-TCV® were conducted in mice and rabbits to check its safety and tolerability. The results showed that there were </a:t>
            </a:r>
            <a:r>
              <a:rPr lang="en-IN" sz="1600" b="1" i="1" dirty="0"/>
              <a:t>no immediate allergic or anaphylactic reactions</a:t>
            </a:r>
            <a:r>
              <a:rPr lang="en-IN" sz="1600" i="1" dirty="0"/>
              <a:t> in either the vaccinated or control groups, indicating that the vaccine was well tolerated in these animal studies.</a:t>
            </a:r>
          </a:p>
          <a:p>
            <a:pPr algn="just"/>
            <a:r>
              <a:rPr lang="en-IN" sz="1600" i="1" dirty="0"/>
              <a:t>Studies on </a:t>
            </a:r>
            <a:r>
              <a:rPr lang="en-IN" sz="1600" i="1" dirty="0" err="1"/>
              <a:t>Typbar</a:t>
            </a:r>
            <a:r>
              <a:rPr lang="en-IN" sz="1600" i="1" dirty="0"/>
              <a:t>-TCV® have been conducted in several countries to evaluate its safety, effectiveness, and ability to protect against typhoid. In </a:t>
            </a:r>
            <a:r>
              <a:rPr lang="en-IN" sz="1600" b="1" i="1" dirty="0"/>
              <a:t>Nepal</a:t>
            </a:r>
            <a:r>
              <a:rPr lang="en-IN" sz="1600" i="1" dirty="0"/>
              <a:t>, a study involving about 20,000 children showed that the vaccine was safe and had </a:t>
            </a:r>
            <a:r>
              <a:rPr lang="en-IN" sz="1600" b="1" i="1" dirty="0"/>
              <a:t>81.6% efficacy</a:t>
            </a:r>
            <a:r>
              <a:rPr lang="en-IN" sz="1600" i="1" dirty="0"/>
              <a:t>. </a:t>
            </a:r>
            <a:endParaRPr lang="en-IN" sz="1600" dirty="0"/>
          </a:p>
        </p:txBody>
      </p:sp>
      <p:pic>
        <p:nvPicPr>
          <p:cNvPr id="6" name="Picture 5" descr="Typbar Vaccine 0.5 ml - Onco Healthmart">
            <a:extLst>
              <a:ext uri="{FF2B5EF4-FFF2-40B4-BE49-F238E27FC236}">
                <a16:creationId xmlns:a16="http://schemas.microsoft.com/office/drawing/2014/main" id="{3C813DF9-6E5C-A16D-96BA-325A5337927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60000"/>
                    </a14:imgEffect>
                    <a14:imgEffect>
                      <a14:brightnessContrast bright="2000"/>
                    </a14:imgEffect>
                  </a14:imgLayer>
                </a14:imgProps>
              </a:ext>
            </a:extLst>
          </a:blip>
          <a:srcRect l="25762" t="1016" r="27248" b="1393"/>
          <a:stretch>
            <a:fillRect/>
          </a:stretch>
        </p:blipFill>
        <p:spPr>
          <a:xfrm>
            <a:off x="9806879" y="1398075"/>
            <a:ext cx="2261295" cy="4500000"/>
          </a:xfrm>
          <a:prstGeom prst="rect">
            <a:avLst/>
          </a:prstGeom>
        </p:spPr>
      </p:pic>
    </p:spTree>
    <p:extLst>
      <p:ext uri="{BB962C8B-B14F-4D97-AF65-F5344CB8AC3E}">
        <p14:creationId xmlns:p14="http://schemas.microsoft.com/office/powerpoint/2010/main" val="3285649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7" name="Picture 6" descr="HR Philosophy - Bharat Biotech - A Leading Biotech Company">
            <a:extLst>
              <a:ext uri="{FF2B5EF4-FFF2-40B4-BE49-F238E27FC236}">
                <a16:creationId xmlns:a16="http://schemas.microsoft.com/office/drawing/2014/main" id="{9A68C676-8C09-DEC7-10AF-51D69B819325}"/>
              </a:ext>
            </a:extLst>
          </p:cNvPr>
          <p:cNvPicPr>
            <a:picLocks noChangeAspect="1"/>
          </p:cNvPicPr>
          <p:nvPr/>
        </p:nvPicPr>
        <p:blipFill>
          <a:blip r:embed="rId2">
            <a:alphaModFix amt="32000"/>
          </a:blip>
          <a:stretch>
            <a:fillRect/>
          </a:stretch>
        </p:blipFill>
        <p:spPr>
          <a:xfrm>
            <a:off x="0" y="-1"/>
            <a:ext cx="12192000" cy="6867197"/>
          </a:xfrm>
          <a:prstGeom prst="rect">
            <a:avLst/>
          </a:prstGeom>
        </p:spPr>
      </p:pic>
      <p:sp>
        <p:nvSpPr>
          <p:cNvPr id="4" name="Title 1">
            <a:extLst>
              <a:ext uri="{FF2B5EF4-FFF2-40B4-BE49-F238E27FC236}">
                <a16:creationId xmlns:a16="http://schemas.microsoft.com/office/drawing/2014/main" id="{BBEA6E21-479D-514B-B0AE-FFE83FC7418F}"/>
              </a:ext>
            </a:extLst>
          </p:cNvPr>
          <p:cNvSpPr>
            <a:spLocks noGrp="1"/>
          </p:cNvSpPr>
          <p:nvPr>
            <p:ph type="title"/>
          </p:nvPr>
        </p:nvSpPr>
        <p:spPr>
          <a:xfrm>
            <a:off x="612309" y="-1"/>
            <a:ext cx="4041648" cy="1009651"/>
          </a:xfrm>
        </p:spPr>
        <p:txBody>
          <a:bodyPr>
            <a:normAutofit/>
          </a:bodyPr>
          <a:lstStyle/>
          <a:p>
            <a:r>
              <a:rPr lang="en-IN" dirty="0">
                <a:latin typeface="Times New Roman" panose="02020603050405020304" pitchFamily="18" charset="0"/>
                <a:cs typeface="Times New Roman" panose="02020603050405020304" pitchFamily="18" charset="0"/>
              </a:rPr>
              <a:t>Products </a:t>
            </a:r>
          </a:p>
        </p:txBody>
      </p:sp>
      <p:sp>
        <p:nvSpPr>
          <p:cNvPr id="5" name="Content Placeholder 2">
            <a:extLst>
              <a:ext uri="{FF2B5EF4-FFF2-40B4-BE49-F238E27FC236}">
                <a16:creationId xmlns:a16="http://schemas.microsoft.com/office/drawing/2014/main" id="{2D7EEF12-26E4-1CA3-315F-378FE196749A}"/>
              </a:ext>
            </a:extLst>
          </p:cNvPr>
          <p:cNvSpPr>
            <a:spLocks noGrp="1"/>
          </p:cNvSpPr>
          <p:nvPr>
            <p:ph idx="1"/>
          </p:nvPr>
        </p:nvSpPr>
        <p:spPr>
          <a:xfrm>
            <a:off x="150537" y="1009650"/>
            <a:ext cx="9006840" cy="5466588"/>
          </a:xfrm>
        </p:spPr>
        <p:txBody>
          <a:bodyPr>
            <a:normAutofit lnSpcReduction="10000"/>
          </a:bodyPr>
          <a:lstStyle/>
          <a:p>
            <a:pPr marL="0" indent="0">
              <a:buNone/>
            </a:pPr>
            <a:r>
              <a:rPr lang="en-IN" sz="2400" i="1" dirty="0">
                <a:latin typeface="Times New Roman" panose="02020603050405020304" pitchFamily="18" charset="0"/>
                <a:cs typeface="Times New Roman" panose="02020603050405020304" pitchFamily="18" charset="0"/>
              </a:rPr>
              <a:t>2. </a:t>
            </a:r>
            <a:r>
              <a:rPr lang="en-IN" sz="2400" i="1" u="sng" dirty="0">
                <a:latin typeface="Times New Roman" panose="02020603050405020304" pitchFamily="18" charset="0"/>
                <a:cs typeface="Times New Roman" panose="02020603050405020304" pitchFamily="18" charset="0"/>
              </a:rPr>
              <a:t>ROTAVAC-Rotavirus Vaccine (Live Attenuated, Oral)</a:t>
            </a:r>
          </a:p>
          <a:p>
            <a:pPr algn="just"/>
            <a:r>
              <a:rPr lang="en-IN" sz="1600" i="1" dirty="0"/>
              <a:t>India’s first indigenously developed Rotavirus vaccine, derived from a naturally attenuated strain to battle severe diarrhoea in infants.</a:t>
            </a:r>
          </a:p>
          <a:p>
            <a:pPr algn="just"/>
            <a:r>
              <a:rPr lang="en-IN" sz="1600" i="1" dirty="0"/>
              <a:t>Each dose of 0.5 mL (5 Drops) contains: Rotavirus 116E Bulk, Live Attenuated: NLT 105.0 FFU Pharmaceutical Form: liquid in frozen form.</a:t>
            </a:r>
          </a:p>
          <a:p>
            <a:pPr algn="just"/>
            <a:r>
              <a:rPr lang="en-IN" sz="1600" i="1" dirty="0"/>
              <a:t> ROTAVAC® is for oral use only and SHOULD NOT BE INJECTED.</a:t>
            </a:r>
          </a:p>
          <a:p>
            <a:pPr algn="just"/>
            <a:r>
              <a:rPr lang="en-IN" sz="1600" i="1" dirty="0"/>
              <a:t>ROTAVAC uses an attenuated rotavirus strain to stimulate intestinal and systemic immunity against rotavirus.</a:t>
            </a:r>
          </a:p>
          <a:p>
            <a:pPr algn="just"/>
            <a:r>
              <a:rPr lang="en-IN" sz="1600" i="1" dirty="0"/>
              <a:t>Safety studies of ROTAVAC® from Phase </a:t>
            </a:r>
            <a:r>
              <a:rPr lang="en-IN" sz="1600" i="1" dirty="0" err="1"/>
              <a:t>Ib</a:t>
            </a:r>
            <a:r>
              <a:rPr lang="en-IN" sz="1600" i="1" dirty="0"/>
              <a:t>/IIa to Phase IV showed that the vaccine was generally well tolerated. In the </a:t>
            </a:r>
            <a:r>
              <a:rPr lang="en-IN" sz="1600" b="1" i="1" dirty="0"/>
              <a:t>Phase </a:t>
            </a:r>
            <a:r>
              <a:rPr lang="en-IN" sz="1600" b="1" i="1" dirty="0" err="1"/>
              <a:t>Ib</a:t>
            </a:r>
            <a:r>
              <a:rPr lang="en-IN" sz="1600" b="1" i="1" dirty="0"/>
              <a:t>/IIa trial, 369 infants</a:t>
            </a:r>
            <a:r>
              <a:rPr lang="en-IN" sz="1600" i="1" dirty="0"/>
              <a:t> aged 6–8 weeks were studied; the common side effects were fever, vomiting, and diarrhoea, with no significant vaccine-related adverse events. </a:t>
            </a:r>
          </a:p>
          <a:p>
            <a:pPr algn="just"/>
            <a:r>
              <a:rPr lang="en-IN" sz="1600" i="1" dirty="0"/>
              <a:t>In the larger </a:t>
            </a:r>
            <a:r>
              <a:rPr lang="en-IN" sz="1600" b="1" i="1" dirty="0"/>
              <a:t>Phase III trial, 6,799 infants</a:t>
            </a:r>
            <a:r>
              <a:rPr lang="en-IN" sz="1600" i="1" dirty="0"/>
              <a:t> aged 6–7 weeks participated, and adverse events such as fever, vomiting, diarrhoea, cough, runny nose, irritability, and rash occurred at similar rates in the vaccine and placebo groups. No vaccine-related serious adverse events or deaths were reported. </a:t>
            </a:r>
          </a:p>
          <a:p>
            <a:pPr algn="just"/>
            <a:r>
              <a:rPr lang="en-IN" sz="1600" i="1" dirty="0"/>
              <a:t>In </a:t>
            </a:r>
            <a:r>
              <a:rPr lang="en-IN" sz="1600" b="1" i="1" dirty="0"/>
              <a:t>Phase IV, 900 infants</a:t>
            </a:r>
            <a:r>
              <a:rPr lang="en-IN" sz="1600" i="1" dirty="0"/>
              <a:t> were studied in three groups, and the occurrence of adverse events was similar across all groups. Overall, the clinical studies showed no major safety concerns associated with ROTAVAC®.</a:t>
            </a:r>
          </a:p>
          <a:p>
            <a:pPr algn="just"/>
            <a:r>
              <a:rPr lang="en-IN" sz="1600" i="1" dirty="0"/>
              <a:t>The recommended storage temperature for ROTAVAC® is at -20°C or below until the expiry date indicated on the vial. It can be stored for up to six months between +2°C and +8°C. ROTAVAC® can be subjected to 6 freeze- thaw cycles. </a:t>
            </a:r>
          </a:p>
          <a:p>
            <a:pPr algn="just"/>
            <a:endParaRPr lang="en-IN" sz="1600" dirty="0"/>
          </a:p>
          <a:p>
            <a:endParaRPr lang="en-IN" sz="1600" dirty="0"/>
          </a:p>
        </p:txBody>
      </p:sp>
      <p:pic>
        <p:nvPicPr>
          <p:cNvPr id="8" name="Picture 7" descr="Rotavac Rotavirus Vaccines Injection at 689.00 INR in Pune, Maharashtra |  Dev Medical">
            <a:extLst>
              <a:ext uri="{FF2B5EF4-FFF2-40B4-BE49-F238E27FC236}">
                <a16:creationId xmlns:a16="http://schemas.microsoft.com/office/drawing/2014/main" id="{9191EAC3-802D-99A2-08F8-60B04CBD466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1000"/>
                    </a14:imgEffect>
                  </a14:imgLayer>
                </a14:imgProps>
              </a:ext>
            </a:extLst>
          </a:blip>
          <a:srcRect l="17999" t="13696" r="22283" b="12978"/>
          <a:stretch>
            <a:fillRect/>
          </a:stretch>
        </p:blipFill>
        <p:spPr>
          <a:xfrm>
            <a:off x="9307913" y="1685550"/>
            <a:ext cx="2684391" cy="3296025"/>
          </a:xfrm>
          <a:prstGeom prst="rect">
            <a:avLst/>
          </a:prstGeom>
        </p:spPr>
      </p:pic>
    </p:spTree>
    <p:extLst>
      <p:ext uri="{BB962C8B-B14F-4D97-AF65-F5344CB8AC3E}">
        <p14:creationId xmlns:p14="http://schemas.microsoft.com/office/powerpoint/2010/main" val="2981843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CC79668E-4863-EEF7-F3A0-391E5EE9202E}"/>
            </a:ext>
          </a:extLst>
        </p:cNvPr>
        <p:cNvGrpSpPr/>
        <p:nvPr/>
      </p:nvGrpSpPr>
      <p:grpSpPr>
        <a:xfrm>
          <a:off x="0" y="0"/>
          <a:ext cx="0" cy="0"/>
          <a:chOff x="0" y="0"/>
          <a:chExt cx="0" cy="0"/>
        </a:xfrm>
      </p:grpSpPr>
      <p:pic>
        <p:nvPicPr>
          <p:cNvPr id="7" name="Picture 6" descr="HR Philosophy - Bharat Biotech - A Leading Biotech Company">
            <a:extLst>
              <a:ext uri="{FF2B5EF4-FFF2-40B4-BE49-F238E27FC236}">
                <a16:creationId xmlns:a16="http://schemas.microsoft.com/office/drawing/2014/main" id="{D56C25EB-68C2-10B6-D137-3A5BA633BE37}"/>
              </a:ext>
            </a:extLst>
          </p:cNvPr>
          <p:cNvPicPr>
            <a:picLocks noChangeAspect="1"/>
          </p:cNvPicPr>
          <p:nvPr/>
        </p:nvPicPr>
        <p:blipFill>
          <a:blip r:embed="rId2">
            <a:alphaModFix amt="32000"/>
          </a:blip>
          <a:stretch>
            <a:fillRect/>
          </a:stretch>
        </p:blipFill>
        <p:spPr>
          <a:xfrm>
            <a:off x="0" y="-1"/>
            <a:ext cx="12192000" cy="6867197"/>
          </a:xfrm>
          <a:prstGeom prst="rect">
            <a:avLst/>
          </a:prstGeom>
        </p:spPr>
      </p:pic>
      <p:sp>
        <p:nvSpPr>
          <p:cNvPr id="4" name="Title 1">
            <a:extLst>
              <a:ext uri="{FF2B5EF4-FFF2-40B4-BE49-F238E27FC236}">
                <a16:creationId xmlns:a16="http://schemas.microsoft.com/office/drawing/2014/main" id="{FFF6B799-AF78-68E7-70E8-8324A45A909A}"/>
              </a:ext>
            </a:extLst>
          </p:cNvPr>
          <p:cNvSpPr>
            <a:spLocks noGrp="1"/>
          </p:cNvSpPr>
          <p:nvPr>
            <p:ph type="title"/>
          </p:nvPr>
        </p:nvSpPr>
        <p:spPr>
          <a:xfrm>
            <a:off x="625562" y="0"/>
            <a:ext cx="4041648" cy="1009651"/>
          </a:xfrm>
        </p:spPr>
        <p:txBody>
          <a:bodyPr>
            <a:normAutofit/>
          </a:bodyPr>
          <a:lstStyle/>
          <a:p>
            <a:r>
              <a:rPr lang="en-IN" dirty="0">
                <a:latin typeface="Times New Roman" panose="02020603050405020304" pitchFamily="18" charset="0"/>
                <a:cs typeface="Times New Roman" panose="02020603050405020304" pitchFamily="18" charset="0"/>
              </a:rPr>
              <a:t>Products </a:t>
            </a:r>
          </a:p>
        </p:txBody>
      </p:sp>
      <p:sp>
        <p:nvSpPr>
          <p:cNvPr id="5" name="Content Placeholder 2">
            <a:extLst>
              <a:ext uri="{FF2B5EF4-FFF2-40B4-BE49-F238E27FC236}">
                <a16:creationId xmlns:a16="http://schemas.microsoft.com/office/drawing/2014/main" id="{2CDB2787-81A2-AD4A-F4ED-2B92961BCD64}"/>
              </a:ext>
            </a:extLst>
          </p:cNvPr>
          <p:cNvSpPr>
            <a:spLocks noGrp="1"/>
          </p:cNvSpPr>
          <p:nvPr>
            <p:ph idx="1"/>
          </p:nvPr>
        </p:nvSpPr>
        <p:spPr>
          <a:xfrm>
            <a:off x="236942" y="942594"/>
            <a:ext cx="9006840" cy="5466588"/>
          </a:xfrm>
        </p:spPr>
        <p:txBody>
          <a:bodyPr>
            <a:normAutofit fontScale="92500" lnSpcReduction="20000"/>
          </a:bodyPr>
          <a:lstStyle/>
          <a:p>
            <a:pPr marL="0" indent="0">
              <a:buNone/>
            </a:pPr>
            <a:r>
              <a:rPr lang="en-IN" sz="2400" i="1" dirty="0">
                <a:latin typeface="Times New Roman" panose="02020603050405020304" pitchFamily="18" charset="0"/>
                <a:cs typeface="Times New Roman" panose="02020603050405020304" pitchFamily="18" charset="0"/>
              </a:rPr>
              <a:t>3. </a:t>
            </a:r>
            <a:r>
              <a:rPr lang="en-IN" sz="2400" i="1" u="sng" dirty="0">
                <a:latin typeface="Times New Roman" panose="02020603050405020304" pitchFamily="18" charset="0"/>
                <a:cs typeface="Times New Roman" panose="02020603050405020304" pitchFamily="18" charset="0"/>
              </a:rPr>
              <a:t>COVAXIN® (Whole Virion Inactivated Coronavirus (SARS-CoV-2) Vaccine)</a:t>
            </a:r>
          </a:p>
          <a:p>
            <a:r>
              <a:rPr lang="en-IN" sz="1600" i="1" dirty="0"/>
              <a:t>COVAXIN</a:t>
            </a:r>
            <a:r>
              <a:rPr lang="en-IN" sz="1600" i="1" baseline="30000" dirty="0"/>
              <a:t>®</a:t>
            </a:r>
            <a:r>
              <a:rPr lang="en-IN" sz="1600" i="1" dirty="0"/>
              <a:t>, India</a:t>
            </a:r>
            <a:r>
              <a:rPr lang="en-IN" sz="1600" i="1" baseline="30000" dirty="0"/>
              <a:t>'</a:t>
            </a:r>
            <a:r>
              <a:rPr lang="en-IN" sz="1600" i="1" dirty="0"/>
              <a:t>s indigenous </a:t>
            </a:r>
            <a:r>
              <a:rPr lang="en-IN" sz="1600" b="1" i="1" dirty="0"/>
              <a:t>COVID-19 vaccine</a:t>
            </a:r>
            <a:r>
              <a:rPr lang="en-IN" sz="1600" i="1" dirty="0"/>
              <a:t> by Bharat Biotech is developed in collaboration with the Indian Council of Medical Research (ICMR) - National Institute of Virology (NIV). </a:t>
            </a:r>
          </a:p>
          <a:p>
            <a:r>
              <a:rPr lang="en-IN" dirty="0"/>
              <a:t> </a:t>
            </a:r>
            <a:r>
              <a:rPr lang="en-IN" sz="1700" i="1" dirty="0"/>
              <a:t>developed using Whole-Virion Inactivated Vero Cell derived platform technology</a:t>
            </a:r>
          </a:p>
          <a:p>
            <a:r>
              <a:rPr lang="en-IN" sz="1600" i="1" dirty="0"/>
              <a:t>pharmaceutical form :Sterile suspension for injection</a:t>
            </a:r>
          </a:p>
          <a:p>
            <a:r>
              <a:rPr lang="en-IN" sz="1600" i="1" dirty="0"/>
              <a:t>COVAXIN® is approved for active immunization against SARS-CoV-2 (COVID-19) in individuals aged 18 years and above. It is also permitted for restricted emergency use in children above 6 to 18 years of age, as authorized by the DCGI.</a:t>
            </a:r>
          </a:p>
          <a:p>
            <a:pPr algn="just"/>
            <a:r>
              <a:rPr lang="en-IN" sz="1600" i="1" dirty="0"/>
              <a:t>COVAXIN® should be administered as two doses on Day 0 and Day 28. Method of administration: Intramuscular injection (IM)</a:t>
            </a:r>
          </a:p>
          <a:p>
            <a:pPr algn="just"/>
            <a:r>
              <a:rPr lang="en-IN" sz="1600" i="1" dirty="0"/>
              <a:t>COVAXIN shows the immune system a </a:t>
            </a:r>
            <a:r>
              <a:rPr lang="en-IN" sz="1600" b="1" i="1" dirty="0"/>
              <a:t>non-replicating version of the virus</a:t>
            </a:r>
            <a:r>
              <a:rPr lang="en-IN" sz="1600" i="1" dirty="0"/>
              <a:t>, allowing it to learn how to recognize the virus and respond more rapidly if exposed to SARS-CoV-2 later.</a:t>
            </a:r>
          </a:p>
          <a:p>
            <a:pPr algn="just"/>
            <a:r>
              <a:rPr lang="en-IN" sz="1600" i="1" dirty="0"/>
              <a:t>Demonstrated strong immunogenicity and protective efficacy in animal challenge studies conducted in hamsters &amp; non-human primates</a:t>
            </a:r>
          </a:p>
          <a:p>
            <a:pPr algn="just"/>
            <a:r>
              <a:rPr lang="en-IN" sz="1600" i="1" dirty="0"/>
              <a:t>COVAXIN® (BBV152) was evaluated through three main clinical trial phases. In </a:t>
            </a:r>
            <a:r>
              <a:rPr lang="en-IN" sz="1600" b="1" i="1" dirty="0"/>
              <a:t>Phase 1, 375 healthy adults aged 18–55 years</a:t>
            </a:r>
            <a:r>
              <a:rPr lang="en-IN" sz="1600" i="1" dirty="0"/>
              <a:t> participated. The most common side effects were injection-site pain, headache, fatigue, fever, and nausea/vomiting, and most were mild or moderate. </a:t>
            </a:r>
          </a:p>
          <a:p>
            <a:pPr algn="just"/>
            <a:r>
              <a:rPr lang="en-IN" sz="1600" i="1" dirty="0"/>
              <a:t>In </a:t>
            </a:r>
            <a:r>
              <a:rPr lang="en-IN" sz="1600" b="1" i="1" dirty="0"/>
              <a:t>Phase 2, 380 participants aged 12–65 years</a:t>
            </a:r>
            <a:r>
              <a:rPr lang="en-IN" sz="1600" i="1" dirty="0"/>
              <a:t> were enrolled and received either a 3 µg or 6 µg vaccine formulation. The most common side effect was injection-site pain, and most adverse events were mild and resolved within 24 hours. </a:t>
            </a:r>
          </a:p>
          <a:p>
            <a:pPr algn="just"/>
            <a:r>
              <a:rPr lang="en-IN" sz="1600" i="1" dirty="0"/>
              <a:t>In </a:t>
            </a:r>
            <a:r>
              <a:rPr lang="en-IN" sz="1600" b="1" i="1" dirty="0"/>
              <a:t>Phase 3, 25,798 participants</a:t>
            </a:r>
            <a:r>
              <a:rPr lang="en-IN" sz="1600" i="1" dirty="0"/>
              <a:t> were monitored for safety. Adverse events were generally mild, and their frequency was similar between the COVAXIN® and placebo groups</a:t>
            </a:r>
          </a:p>
          <a:p>
            <a:endParaRPr lang="en-IN" sz="1600" dirty="0"/>
          </a:p>
        </p:txBody>
      </p:sp>
      <p:pic>
        <p:nvPicPr>
          <p:cNvPr id="2" name="Picture 1" descr="COVAXIN - India's First Indigenous Covid-19 Vaccine | Bharat Biotech">
            <a:extLst>
              <a:ext uri="{FF2B5EF4-FFF2-40B4-BE49-F238E27FC236}">
                <a16:creationId xmlns:a16="http://schemas.microsoft.com/office/drawing/2014/main" id="{421F0AC2-ACCD-6915-666E-9D8BF63C3B15}"/>
              </a:ext>
            </a:extLst>
          </p:cNvPr>
          <p:cNvPicPr>
            <a:picLocks noChangeAspect="1"/>
          </p:cNvPicPr>
          <p:nvPr/>
        </p:nvPicPr>
        <p:blipFill>
          <a:blip r:embed="rId3"/>
          <a:srcRect l="32603" t="14563" r="25924" b="9107"/>
          <a:stretch>
            <a:fillRect/>
          </a:stretch>
        </p:blipFill>
        <p:spPr>
          <a:xfrm>
            <a:off x="9792422" y="845344"/>
            <a:ext cx="1850938" cy="4815308"/>
          </a:xfrm>
          <a:prstGeom prst="rect">
            <a:avLst/>
          </a:prstGeom>
        </p:spPr>
      </p:pic>
    </p:spTree>
    <p:extLst>
      <p:ext uri="{BB962C8B-B14F-4D97-AF65-F5344CB8AC3E}">
        <p14:creationId xmlns:p14="http://schemas.microsoft.com/office/powerpoint/2010/main" val="152487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658A7725-A151-4057-9FA3-4E9644455D5B}"/>
            </a:ext>
          </a:extLst>
        </p:cNvPr>
        <p:cNvGrpSpPr/>
        <p:nvPr/>
      </p:nvGrpSpPr>
      <p:grpSpPr>
        <a:xfrm>
          <a:off x="0" y="0"/>
          <a:ext cx="0" cy="0"/>
          <a:chOff x="0" y="0"/>
          <a:chExt cx="0" cy="0"/>
        </a:xfrm>
      </p:grpSpPr>
      <p:pic>
        <p:nvPicPr>
          <p:cNvPr id="7" name="Picture 6" descr="HR Philosophy - Bharat Biotech - A Leading Biotech Company">
            <a:extLst>
              <a:ext uri="{FF2B5EF4-FFF2-40B4-BE49-F238E27FC236}">
                <a16:creationId xmlns:a16="http://schemas.microsoft.com/office/drawing/2014/main" id="{F843EEB6-BD39-E1B3-365E-2C5DEC7F65E4}"/>
              </a:ext>
            </a:extLst>
          </p:cNvPr>
          <p:cNvPicPr>
            <a:picLocks noChangeAspect="1"/>
          </p:cNvPicPr>
          <p:nvPr/>
        </p:nvPicPr>
        <p:blipFill>
          <a:blip r:embed="rId2">
            <a:alphaModFix amt="32000"/>
          </a:blip>
          <a:stretch>
            <a:fillRect/>
          </a:stretch>
        </p:blipFill>
        <p:spPr>
          <a:xfrm>
            <a:off x="0" y="0"/>
            <a:ext cx="12192000" cy="6867197"/>
          </a:xfrm>
          <a:prstGeom prst="rect">
            <a:avLst/>
          </a:prstGeom>
        </p:spPr>
      </p:pic>
      <p:sp>
        <p:nvSpPr>
          <p:cNvPr id="4" name="Title 1">
            <a:extLst>
              <a:ext uri="{FF2B5EF4-FFF2-40B4-BE49-F238E27FC236}">
                <a16:creationId xmlns:a16="http://schemas.microsoft.com/office/drawing/2014/main" id="{353C2176-C51E-6CA2-78EA-B73E2D8701A1}"/>
              </a:ext>
            </a:extLst>
          </p:cNvPr>
          <p:cNvSpPr>
            <a:spLocks noGrp="1"/>
          </p:cNvSpPr>
          <p:nvPr>
            <p:ph type="title"/>
          </p:nvPr>
        </p:nvSpPr>
        <p:spPr>
          <a:xfrm>
            <a:off x="551308" y="-9196"/>
            <a:ext cx="4041648" cy="1009651"/>
          </a:xfrm>
        </p:spPr>
        <p:txBody>
          <a:bodyPr>
            <a:normAutofit/>
          </a:bodyPr>
          <a:lstStyle/>
          <a:p>
            <a:r>
              <a:rPr lang="en-IN" dirty="0">
                <a:latin typeface="Times New Roman" panose="02020603050405020304" pitchFamily="18" charset="0"/>
                <a:cs typeface="Times New Roman" panose="02020603050405020304" pitchFamily="18" charset="0"/>
              </a:rPr>
              <a:t>Products </a:t>
            </a:r>
          </a:p>
        </p:txBody>
      </p:sp>
      <p:sp>
        <p:nvSpPr>
          <p:cNvPr id="5" name="Content Placeholder 2">
            <a:extLst>
              <a:ext uri="{FF2B5EF4-FFF2-40B4-BE49-F238E27FC236}">
                <a16:creationId xmlns:a16="http://schemas.microsoft.com/office/drawing/2014/main" id="{22D116FF-F3E4-0723-3D8F-8D66BF7F589F}"/>
              </a:ext>
            </a:extLst>
          </p:cNvPr>
          <p:cNvSpPr>
            <a:spLocks noGrp="1"/>
          </p:cNvSpPr>
          <p:nvPr>
            <p:ph idx="1"/>
          </p:nvPr>
        </p:nvSpPr>
        <p:spPr>
          <a:xfrm>
            <a:off x="226696" y="896874"/>
            <a:ext cx="9006840" cy="5466588"/>
          </a:xfrm>
        </p:spPr>
        <p:txBody>
          <a:bodyPr>
            <a:normAutofit lnSpcReduction="10000"/>
          </a:bodyPr>
          <a:lstStyle/>
          <a:p>
            <a:pPr marL="0" indent="0">
              <a:buNone/>
            </a:pPr>
            <a:r>
              <a:rPr lang="en-IN" sz="2400" i="1" dirty="0">
                <a:latin typeface="Times New Roman" panose="02020603050405020304" pitchFamily="18" charset="0"/>
                <a:cs typeface="Times New Roman" panose="02020603050405020304" pitchFamily="18" charset="0"/>
              </a:rPr>
              <a:t>4. </a:t>
            </a:r>
            <a:r>
              <a:rPr lang="en-IN" sz="2400" i="1" u="sng" dirty="0">
                <a:latin typeface="Times New Roman" panose="02020603050405020304" pitchFamily="18" charset="0"/>
                <a:cs typeface="Times New Roman" panose="02020603050405020304" pitchFamily="18" charset="0"/>
              </a:rPr>
              <a:t>REGEN-D 150</a:t>
            </a:r>
          </a:p>
          <a:p>
            <a:pPr algn="just"/>
            <a:r>
              <a:rPr lang="en-IN" sz="1600" i="1" dirty="0"/>
              <a:t>REGEN-D® was India’s first recombinant epidermal growth factor gel utilized globally for fast and effective wound healing in diabetic foot ulcers and severe burns. </a:t>
            </a:r>
          </a:p>
          <a:p>
            <a:pPr algn="just"/>
            <a:r>
              <a:rPr lang="en-IN" sz="1600" i="1" dirty="0"/>
              <a:t>Each gram of gel contains Purified Bulk of rh - Epidermal Growth Factor: 150μg. Pharmaceutical Form: Gel</a:t>
            </a:r>
          </a:p>
          <a:p>
            <a:pPr algn="just"/>
            <a:r>
              <a:rPr lang="en-IN" sz="1600" i="1" dirty="0"/>
              <a:t>Cleanse the ulcer wound and surrounding surface with water or saline and pat dry with sterile cotton before the gel is applied. Apply the gel evenly on the affected area of the skin using sterile cotton swab twice a day till the ulcer area heals. REGEN-D® 150 therapy should be continued up to a period of 2 to 3 weeks after the wound heals.</a:t>
            </a:r>
          </a:p>
          <a:p>
            <a:pPr algn="just"/>
            <a:r>
              <a:rPr lang="en-IN" sz="1600" i="1" dirty="0"/>
              <a:t>REGEN-D® 150 has proven low reactogenicity and is well tolerated, however, skin irritation/pain rash at the application site may be seen in very few cases.</a:t>
            </a:r>
          </a:p>
          <a:p>
            <a:pPr algn="just"/>
            <a:r>
              <a:rPr lang="en-IN" sz="1600" i="1" dirty="0"/>
              <a:t>Pre-clinical studies of recombinant human Epidermal Growth Factor (rh-EGF) were conducted in rats and rabbits using repeated topical doses of 75–300 µg/kg. The studies found </a:t>
            </a:r>
            <a:r>
              <a:rPr lang="en-IN" sz="1600" b="1" i="1" dirty="0"/>
              <a:t>no significant toxicity, systemic absorption, or antibody response</a:t>
            </a:r>
            <a:r>
              <a:rPr lang="en-IN" sz="1600" i="1" dirty="0"/>
              <a:t>, while increases in DNA and collagen content were observed in treated skin.</a:t>
            </a:r>
          </a:p>
          <a:p>
            <a:pPr algn="just"/>
            <a:r>
              <a:rPr lang="en-IN" sz="1600" i="1" dirty="0"/>
              <a:t> In </a:t>
            </a:r>
            <a:r>
              <a:rPr lang="en-IN" sz="1600" b="1" i="1" dirty="0"/>
              <a:t>Phase 3 clinical studies</a:t>
            </a:r>
            <a:r>
              <a:rPr lang="en-IN" sz="1600" i="1" dirty="0"/>
              <a:t>, REGEN-D® 150 was tested for diabetic foot ulcers and pressure ulcers. For diabetic foot ulcers, healing occurred in about </a:t>
            </a:r>
            <a:r>
              <a:rPr lang="en-IN" sz="1600" b="1" i="1" dirty="0"/>
              <a:t>9 weeks with REGEN-D® 150 compared with 13 weeks with placebo</a:t>
            </a:r>
            <a:r>
              <a:rPr lang="en-IN" sz="1600" i="1" dirty="0"/>
              <a:t>, with around </a:t>
            </a:r>
            <a:r>
              <a:rPr lang="en-IN" sz="1600" b="1" i="1" dirty="0"/>
              <a:t>84–86% of ulcers healed by 15 weeks compared with about 50% with placebo</a:t>
            </a:r>
            <a:r>
              <a:rPr lang="en-IN" sz="1600" i="1" dirty="0"/>
              <a:t>. </a:t>
            </a:r>
          </a:p>
          <a:p>
            <a:pPr algn="just"/>
            <a:r>
              <a:rPr lang="en-IN" sz="1600" i="1" dirty="0"/>
              <a:t>For pressure ulcers, healing took about </a:t>
            </a:r>
            <a:r>
              <a:rPr lang="en-IN" sz="1600" b="1" i="1" dirty="0"/>
              <a:t>40 days with REGEN-D® 150 compared with 78 days with placebo</a:t>
            </a:r>
            <a:r>
              <a:rPr lang="en-IN" sz="1600" i="1" dirty="0"/>
              <a:t>. The treatment was generally well tolerated, with only minor reactions such as rash or irritation reported and no serious drug-related adverse reactions.</a:t>
            </a:r>
          </a:p>
        </p:txBody>
      </p:sp>
      <p:pic>
        <p:nvPicPr>
          <p:cNvPr id="3" name="Picture 2" descr="Regen-D 150 gel - 15 gm">
            <a:extLst>
              <a:ext uri="{FF2B5EF4-FFF2-40B4-BE49-F238E27FC236}">
                <a16:creationId xmlns:a16="http://schemas.microsoft.com/office/drawing/2014/main" id="{6184E8E8-8E16-9E62-A025-B8D4B464211C}"/>
              </a:ext>
            </a:extLst>
          </p:cNvPr>
          <p:cNvPicPr>
            <a:picLocks noChangeAspect="1"/>
          </p:cNvPicPr>
          <p:nvPr/>
        </p:nvPicPr>
        <p:blipFill>
          <a:blip r:embed="rId3"/>
          <a:srcRect l="28274" t="20787" r="43199" b="16781"/>
          <a:stretch>
            <a:fillRect/>
          </a:stretch>
        </p:blipFill>
        <p:spPr>
          <a:xfrm>
            <a:off x="9577504" y="1362862"/>
            <a:ext cx="2071952" cy="4534612"/>
          </a:xfrm>
          <a:prstGeom prst="rect">
            <a:avLst/>
          </a:prstGeom>
        </p:spPr>
      </p:pic>
    </p:spTree>
    <p:extLst>
      <p:ext uri="{BB962C8B-B14F-4D97-AF65-F5344CB8AC3E}">
        <p14:creationId xmlns:p14="http://schemas.microsoft.com/office/powerpoint/2010/main" val="663428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395659C8-7FBC-A903-670B-D3ECD07AA5DB}"/>
            </a:ext>
          </a:extLst>
        </p:cNvPr>
        <p:cNvGrpSpPr/>
        <p:nvPr/>
      </p:nvGrpSpPr>
      <p:grpSpPr>
        <a:xfrm>
          <a:off x="0" y="0"/>
          <a:ext cx="0" cy="0"/>
          <a:chOff x="0" y="0"/>
          <a:chExt cx="0" cy="0"/>
        </a:xfrm>
      </p:grpSpPr>
      <p:pic>
        <p:nvPicPr>
          <p:cNvPr id="7" name="Picture 6" descr="HR Philosophy - Bharat Biotech - A Leading Biotech Company">
            <a:extLst>
              <a:ext uri="{FF2B5EF4-FFF2-40B4-BE49-F238E27FC236}">
                <a16:creationId xmlns:a16="http://schemas.microsoft.com/office/drawing/2014/main" id="{8F12D959-1FEF-5CD4-0E9F-783AA00333CD}"/>
              </a:ext>
            </a:extLst>
          </p:cNvPr>
          <p:cNvPicPr>
            <a:picLocks noChangeAspect="1"/>
          </p:cNvPicPr>
          <p:nvPr/>
        </p:nvPicPr>
        <p:blipFill>
          <a:blip r:embed="rId2">
            <a:alphaModFix amt="32000"/>
          </a:blip>
          <a:stretch>
            <a:fillRect/>
          </a:stretch>
        </p:blipFill>
        <p:spPr>
          <a:xfrm>
            <a:off x="0" y="-9197"/>
            <a:ext cx="12192000" cy="6867197"/>
          </a:xfrm>
          <a:prstGeom prst="rect">
            <a:avLst/>
          </a:prstGeom>
        </p:spPr>
      </p:pic>
      <p:sp>
        <p:nvSpPr>
          <p:cNvPr id="4" name="Title 1">
            <a:extLst>
              <a:ext uri="{FF2B5EF4-FFF2-40B4-BE49-F238E27FC236}">
                <a16:creationId xmlns:a16="http://schemas.microsoft.com/office/drawing/2014/main" id="{BAE2BC6D-ED22-7F21-2CEE-34C54DD40037}"/>
              </a:ext>
            </a:extLst>
          </p:cNvPr>
          <p:cNvSpPr>
            <a:spLocks noGrp="1"/>
          </p:cNvSpPr>
          <p:nvPr>
            <p:ph type="title"/>
          </p:nvPr>
        </p:nvSpPr>
        <p:spPr>
          <a:xfrm>
            <a:off x="640652" y="503656"/>
            <a:ext cx="2770060" cy="563118"/>
          </a:xfrm>
        </p:spPr>
        <p:txBody>
          <a:bodyPr>
            <a:normAutofit fontScale="90000"/>
          </a:bodyPr>
          <a:lstStyle/>
          <a:p>
            <a:r>
              <a:rPr lang="en-IN" u="sng" dirty="0">
                <a:latin typeface="Times New Roman" panose="02020603050405020304" pitchFamily="18" charset="0"/>
                <a:cs typeface="Times New Roman" panose="02020603050405020304" pitchFamily="18" charset="0"/>
              </a:rPr>
              <a:t>Challenges</a:t>
            </a:r>
          </a:p>
        </p:txBody>
      </p:sp>
      <p:sp>
        <p:nvSpPr>
          <p:cNvPr id="5" name="Content Placeholder 2">
            <a:extLst>
              <a:ext uri="{FF2B5EF4-FFF2-40B4-BE49-F238E27FC236}">
                <a16:creationId xmlns:a16="http://schemas.microsoft.com/office/drawing/2014/main" id="{98646EA4-866E-A59A-0928-1BC0845FB465}"/>
              </a:ext>
            </a:extLst>
          </p:cNvPr>
          <p:cNvSpPr>
            <a:spLocks noGrp="1"/>
          </p:cNvSpPr>
          <p:nvPr>
            <p:ph idx="1"/>
          </p:nvPr>
        </p:nvSpPr>
        <p:spPr>
          <a:xfrm>
            <a:off x="385011" y="1229093"/>
            <a:ext cx="11166337" cy="5466588"/>
          </a:xfrm>
        </p:spPr>
        <p:txBody>
          <a:bodyPr>
            <a:normAutofit/>
          </a:bodyPr>
          <a:lstStyle/>
          <a:p>
            <a:pPr algn="just">
              <a:buFont typeface="Wingdings" panose="05000000000000000000" pitchFamily="2" charset="2"/>
              <a:buChar char="Ø"/>
            </a:pPr>
            <a:r>
              <a:rPr lang="en-IN" sz="1800" i="1" dirty="0"/>
              <a:t>Competition </a:t>
            </a:r>
          </a:p>
          <a:p>
            <a:pPr marL="0" indent="0" algn="just">
              <a:buNone/>
            </a:pPr>
            <a:r>
              <a:rPr lang="en-IN" sz="1800" i="1" dirty="0"/>
              <a:t>Bharat Biotech operates in a competitive vaccine market, with companies such as the Serum Institute of India and Biological E also developing and supplying vaccines. Increased competition can affect pricing, government procurement shares and market opportunities.</a:t>
            </a:r>
          </a:p>
          <a:p>
            <a:pPr algn="just">
              <a:buFont typeface="Wingdings" panose="05000000000000000000" pitchFamily="2" charset="2"/>
              <a:buChar char="Ø"/>
            </a:pPr>
            <a:r>
              <a:rPr lang="en-IN" sz="1800" i="1" dirty="0"/>
              <a:t>High Capital Expenditure </a:t>
            </a:r>
          </a:p>
          <a:p>
            <a:pPr marL="0" indent="0" algn="just">
              <a:buNone/>
            </a:pPr>
            <a:r>
              <a:rPr lang="en-IN" sz="1800" i="1" dirty="0"/>
              <a:t>Bharat biotech have moved beyond traditional vaccines towards advanced therapeutics- Tuberculosis, Nipah, Ebola, chikungunya etc. Developing such products requires substantial investment in research, clinical trials, manufacturing facilities and regulatory compliance. At the same time, vaccines supplied through public-health programmes can involve significant price and procurement constraints.</a:t>
            </a:r>
          </a:p>
          <a:p>
            <a:pPr algn="just">
              <a:buFont typeface="Wingdings" panose="05000000000000000000" pitchFamily="2" charset="2"/>
              <a:buChar char="Ø"/>
            </a:pPr>
            <a:r>
              <a:rPr lang="en-IN" sz="1800" i="1" dirty="0"/>
              <a:t>Reputation and Public Trust Risk</a:t>
            </a:r>
          </a:p>
          <a:p>
            <a:pPr marL="0" indent="0" algn="just">
              <a:buNone/>
            </a:pPr>
            <a:r>
              <a:rPr lang="en-IN" sz="1800" i="1" dirty="0"/>
              <a:t>The development and emergency authorization of COVAXIN during the COVID-19 pandemic generated public debate, particularly because the authorization came before the Phase III efficacy results had been published. WHO subsequently granted COVAXIN Emergency Use Listing in November 2021 after reviewing available evidence.</a:t>
            </a:r>
          </a:p>
          <a:p>
            <a:pPr algn="just">
              <a:buFont typeface="Wingdings" panose="05000000000000000000" pitchFamily="2" charset="2"/>
              <a:buChar char="Ø"/>
            </a:pPr>
            <a:r>
              <a:rPr lang="en-IN" sz="1800" i="1" dirty="0"/>
              <a:t>Regulatory challenge </a:t>
            </a:r>
          </a:p>
          <a:p>
            <a:pPr marL="0" indent="0" algn="just">
              <a:buNone/>
            </a:pPr>
            <a:r>
              <a:rPr lang="en-IN" sz="1800" i="1" dirty="0"/>
              <a:t>Bharat Biotech faced regulatory difficulties in Brazil during the COVAXIN approval process. In April 2021, ANVISA rejected the application for importation of COVAXIN after its assessment identified issues concerning documentation and the manufacturer's Good Manufacturing Practices certification</a:t>
            </a:r>
          </a:p>
          <a:p>
            <a:pPr algn="just">
              <a:buFont typeface="Wingdings" panose="05000000000000000000" pitchFamily="2" charset="2"/>
              <a:buChar char="Ø"/>
            </a:pPr>
            <a:endParaRPr lang="en-IN" sz="2000" i="1" dirty="0"/>
          </a:p>
          <a:p>
            <a:pPr algn="just">
              <a:buFont typeface="Wingdings" panose="05000000000000000000" pitchFamily="2" charset="2"/>
              <a:buChar char="Ø"/>
            </a:pPr>
            <a:endParaRPr lang="en-IN" sz="2000" i="1" dirty="0"/>
          </a:p>
        </p:txBody>
      </p:sp>
    </p:spTree>
    <p:extLst>
      <p:ext uri="{BB962C8B-B14F-4D97-AF65-F5344CB8AC3E}">
        <p14:creationId xmlns:p14="http://schemas.microsoft.com/office/powerpoint/2010/main" val="1213421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E4D6DFFD-7F67-F662-A42C-F70562DA4652}"/>
            </a:ext>
          </a:extLst>
        </p:cNvPr>
        <p:cNvGrpSpPr/>
        <p:nvPr/>
      </p:nvGrpSpPr>
      <p:grpSpPr>
        <a:xfrm>
          <a:off x="0" y="0"/>
          <a:ext cx="0" cy="0"/>
          <a:chOff x="0" y="0"/>
          <a:chExt cx="0" cy="0"/>
        </a:xfrm>
      </p:grpSpPr>
      <p:pic>
        <p:nvPicPr>
          <p:cNvPr id="7" name="Picture 6" descr="HR Philosophy - Bharat Biotech - A Leading Biotech Company">
            <a:extLst>
              <a:ext uri="{FF2B5EF4-FFF2-40B4-BE49-F238E27FC236}">
                <a16:creationId xmlns:a16="http://schemas.microsoft.com/office/drawing/2014/main" id="{F29B296C-3633-30B4-D45C-95CBAED5781A}"/>
              </a:ext>
            </a:extLst>
          </p:cNvPr>
          <p:cNvPicPr>
            <a:picLocks noChangeAspect="1"/>
          </p:cNvPicPr>
          <p:nvPr/>
        </p:nvPicPr>
        <p:blipFill>
          <a:blip r:embed="rId2">
            <a:alphaModFix amt="32000"/>
          </a:blip>
          <a:stretch>
            <a:fillRect/>
          </a:stretch>
        </p:blipFill>
        <p:spPr>
          <a:xfrm>
            <a:off x="0" y="0"/>
            <a:ext cx="12192000" cy="6867197"/>
          </a:xfrm>
          <a:prstGeom prst="rect">
            <a:avLst/>
          </a:prstGeom>
        </p:spPr>
      </p:pic>
      <p:sp>
        <p:nvSpPr>
          <p:cNvPr id="4" name="Title 1">
            <a:extLst>
              <a:ext uri="{FF2B5EF4-FFF2-40B4-BE49-F238E27FC236}">
                <a16:creationId xmlns:a16="http://schemas.microsoft.com/office/drawing/2014/main" id="{4CB0F12A-C954-C548-9D25-5A63E90C5D5F}"/>
              </a:ext>
            </a:extLst>
          </p:cNvPr>
          <p:cNvSpPr>
            <a:spLocks noGrp="1"/>
          </p:cNvSpPr>
          <p:nvPr>
            <p:ph type="title"/>
          </p:nvPr>
        </p:nvSpPr>
        <p:spPr>
          <a:xfrm>
            <a:off x="640652" y="503656"/>
            <a:ext cx="2770060" cy="563118"/>
          </a:xfrm>
        </p:spPr>
        <p:txBody>
          <a:bodyPr>
            <a:normAutofit fontScale="90000"/>
          </a:bodyPr>
          <a:lstStyle/>
          <a:p>
            <a:r>
              <a:rPr lang="en-IN" u="sng" dirty="0">
                <a:latin typeface="Times New Roman" panose="02020603050405020304" pitchFamily="18" charset="0"/>
                <a:cs typeface="Times New Roman" panose="02020603050405020304" pitchFamily="18" charset="0"/>
              </a:rPr>
              <a:t>Application</a:t>
            </a:r>
          </a:p>
        </p:txBody>
      </p:sp>
      <p:sp>
        <p:nvSpPr>
          <p:cNvPr id="5" name="Content Placeholder 2">
            <a:extLst>
              <a:ext uri="{FF2B5EF4-FFF2-40B4-BE49-F238E27FC236}">
                <a16:creationId xmlns:a16="http://schemas.microsoft.com/office/drawing/2014/main" id="{6AAAF781-B96B-56DB-68CA-7EC1D2ACAE73}"/>
              </a:ext>
            </a:extLst>
          </p:cNvPr>
          <p:cNvSpPr>
            <a:spLocks noGrp="1"/>
          </p:cNvSpPr>
          <p:nvPr>
            <p:ph idx="1"/>
          </p:nvPr>
        </p:nvSpPr>
        <p:spPr>
          <a:xfrm>
            <a:off x="385011" y="1283957"/>
            <a:ext cx="11166337" cy="5226571"/>
          </a:xfrm>
        </p:spPr>
        <p:txBody>
          <a:bodyPr>
            <a:normAutofit lnSpcReduction="10000"/>
          </a:bodyPr>
          <a:lstStyle/>
          <a:p>
            <a:pPr algn="just">
              <a:buFont typeface="Wingdings" panose="05000000000000000000" pitchFamily="2" charset="2"/>
              <a:buChar char="Ø"/>
            </a:pPr>
            <a:r>
              <a:rPr lang="en-IN" sz="2000" i="1" dirty="0"/>
              <a:t>Bharat Biotech’s primary application is the production of vaccines</a:t>
            </a:r>
          </a:p>
          <a:p>
            <a:pPr marL="342900" indent="-342900" algn="just">
              <a:buAutoNum type="arabicParenR"/>
            </a:pPr>
            <a:r>
              <a:rPr lang="en-IN" sz="2000" i="1" dirty="0" err="1"/>
              <a:t>Typbar</a:t>
            </a:r>
            <a:r>
              <a:rPr lang="en-IN" sz="2000" i="1" dirty="0"/>
              <a:t> TCV® is the world’s first typhoid conjugate vaccine used to prevent typhoid fever in infants and adults. ROTAVAC® is widely used to prevent severe rotavirus diarrhoea in infants</a:t>
            </a:r>
          </a:p>
          <a:p>
            <a:pPr marL="342900" indent="-342900" algn="just">
              <a:buAutoNum type="arabicParenR"/>
            </a:pPr>
            <a:r>
              <a:rPr lang="en-IN" sz="2000" i="1" dirty="0"/>
              <a:t>COVAXIN® and </a:t>
            </a:r>
            <a:r>
              <a:rPr lang="en-IN" sz="2000" i="1" dirty="0" err="1"/>
              <a:t>iNCOVACC</a:t>
            </a:r>
            <a:r>
              <a:rPr lang="en-IN" sz="2000" i="1" dirty="0"/>
              <a:t>® (the world's first intranasal COVID-19 vaccine) are applied to combat SARS-CoV-2.</a:t>
            </a:r>
          </a:p>
          <a:p>
            <a:pPr marL="342900" indent="-342900" algn="just">
              <a:buAutoNum type="arabicParenR"/>
            </a:pPr>
            <a:r>
              <a:rPr lang="en-IN" sz="2000" i="1" dirty="0"/>
              <a:t>Vaccines like JENVAC® protect against Japanese Encephalitis, while </a:t>
            </a:r>
            <a:r>
              <a:rPr lang="en-IN" sz="2000" i="1" dirty="0" err="1"/>
              <a:t>Indirab</a:t>
            </a:r>
            <a:r>
              <a:rPr lang="en-IN" sz="2000" i="1" dirty="0"/>
              <a:t>® is applied as a post-exposure treatment for Rabies. They also develop preventative vaccines for Zika and Chikungunya.</a:t>
            </a:r>
          </a:p>
          <a:p>
            <a:pPr marL="342900" indent="-342900" algn="just">
              <a:buAutoNum type="arabicParenR"/>
            </a:pPr>
            <a:r>
              <a:rPr lang="en-IN" sz="2000" i="1" dirty="0"/>
              <a:t>Production of </a:t>
            </a:r>
            <a:r>
              <a:rPr lang="en-IN" sz="2000" i="1" dirty="0" err="1"/>
              <a:t>Biopolio</a:t>
            </a:r>
            <a:r>
              <a:rPr lang="en-IN" sz="2000" i="1" dirty="0"/>
              <a:t>® (Oral Polio Vaccine) and vaccines like </a:t>
            </a:r>
            <a:r>
              <a:rPr lang="en-IN" sz="2000" i="1" dirty="0" err="1"/>
              <a:t>Comvac</a:t>
            </a:r>
            <a:r>
              <a:rPr lang="en-IN" sz="2000" i="1" dirty="0"/>
              <a:t> 5® (Pentavalent vaccine) protect infants from Diphtheria, Tetanus, Pertussis, Hepatitis B, and Hib</a:t>
            </a:r>
          </a:p>
          <a:p>
            <a:pPr marL="0" indent="0" algn="just">
              <a:buNone/>
            </a:pPr>
            <a:endParaRPr lang="en-IN" sz="2000" i="1" dirty="0"/>
          </a:p>
          <a:p>
            <a:pPr algn="just">
              <a:buFont typeface="Wingdings" panose="05000000000000000000" pitchFamily="2" charset="2"/>
              <a:buChar char="Ø"/>
            </a:pPr>
            <a:r>
              <a:rPr lang="en-IN" sz="2000" i="1" dirty="0"/>
              <a:t>Bharat Biotech use Recombinant DNA technology to create Bio-Therapeutics</a:t>
            </a:r>
          </a:p>
          <a:p>
            <a:pPr marL="342900" indent="-342900" algn="just">
              <a:buFont typeface="+mj-lt"/>
              <a:buAutoNum type="arabicParenR"/>
            </a:pPr>
            <a:r>
              <a:rPr lang="en-IN" sz="2000" i="1" dirty="0"/>
              <a:t>REGEN-D® is a recombinant human epidermal growth factor gel applied topically to accelerate the healing of chronic diabetic foot ulcers. It also applied to speed up tissue regeneration in patients with first- and second-degree burns or skin grafts.</a:t>
            </a:r>
          </a:p>
          <a:p>
            <a:pPr marL="342900" indent="-342900" algn="just">
              <a:buFont typeface="+mj-lt"/>
              <a:buAutoNum type="arabicParenR"/>
            </a:pPr>
            <a:r>
              <a:rPr lang="en-IN" sz="2000" i="1" dirty="0"/>
              <a:t>SLVRGEN® are used as specialized ionic silver gels to treat wounds and prevent bacterial infections in open skin trauma</a:t>
            </a:r>
          </a:p>
          <a:p>
            <a:pPr marL="0" indent="0" algn="just">
              <a:buNone/>
            </a:pPr>
            <a:endParaRPr lang="en-IN" sz="1800" i="1" dirty="0"/>
          </a:p>
          <a:p>
            <a:pPr marL="342900" indent="-342900" algn="just">
              <a:buAutoNum type="arabicParenR"/>
            </a:pPr>
            <a:endParaRPr lang="en-IN" sz="1800" i="1" dirty="0"/>
          </a:p>
        </p:txBody>
      </p:sp>
    </p:spTree>
    <p:extLst>
      <p:ext uri="{BB962C8B-B14F-4D97-AF65-F5344CB8AC3E}">
        <p14:creationId xmlns:p14="http://schemas.microsoft.com/office/powerpoint/2010/main" val="1075597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F24C01DD-9EE3-2FCC-5F00-A489C19172E4}"/>
            </a:ext>
          </a:extLst>
        </p:cNvPr>
        <p:cNvGrpSpPr/>
        <p:nvPr/>
      </p:nvGrpSpPr>
      <p:grpSpPr>
        <a:xfrm>
          <a:off x="0" y="0"/>
          <a:ext cx="0" cy="0"/>
          <a:chOff x="0" y="0"/>
          <a:chExt cx="0" cy="0"/>
        </a:xfrm>
      </p:grpSpPr>
      <p:pic>
        <p:nvPicPr>
          <p:cNvPr id="7" name="Picture 6" descr="HR Philosophy - Bharat Biotech - A Leading Biotech Company">
            <a:extLst>
              <a:ext uri="{FF2B5EF4-FFF2-40B4-BE49-F238E27FC236}">
                <a16:creationId xmlns:a16="http://schemas.microsoft.com/office/drawing/2014/main" id="{B8C8AC00-EE7B-C837-4099-942681321B6A}"/>
              </a:ext>
            </a:extLst>
          </p:cNvPr>
          <p:cNvPicPr>
            <a:picLocks noChangeAspect="1"/>
          </p:cNvPicPr>
          <p:nvPr/>
        </p:nvPicPr>
        <p:blipFill>
          <a:blip r:embed="rId2">
            <a:alphaModFix amt="32000"/>
          </a:blip>
          <a:stretch>
            <a:fillRect/>
          </a:stretch>
        </p:blipFill>
        <p:spPr>
          <a:xfrm>
            <a:off x="0" y="0"/>
            <a:ext cx="12192000" cy="6867197"/>
          </a:xfrm>
          <a:prstGeom prst="rect">
            <a:avLst/>
          </a:prstGeom>
        </p:spPr>
      </p:pic>
      <p:sp>
        <p:nvSpPr>
          <p:cNvPr id="4" name="Title 1">
            <a:extLst>
              <a:ext uri="{FF2B5EF4-FFF2-40B4-BE49-F238E27FC236}">
                <a16:creationId xmlns:a16="http://schemas.microsoft.com/office/drawing/2014/main" id="{CB7867E5-0036-A8D0-ACA2-9BDBE9753D8B}"/>
              </a:ext>
            </a:extLst>
          </p:cNvPr>
          <p:cNvSpPr>
            <a:spLocks noGrp="1"/>
          </p:cNvSpPr>
          <p:nvPr>
            <p:ph type="title"/>
          </p:nvPr>
        </p:nvSpPr>
        <p:spPr>
          <a:xfrm>
            <a:off x="640652" y="503656"/>
            <a:ext cx="2770060" cy="563118"/>
          </a:xfrm>
        </p:spPr>
        <p:txBody>
          <a:bodyPr>
            <a:normAutofit fontScale="90000"/>
          </a:bodyPr>
          <a:lstStyle/>
          <a:p>
            <a:r>
              <a:rPr lang="en-IN" u="sng" dirty="0">
                <a:latin typeface="Times New Roman" panose="02020603050405020304" pitchFamily="18" charset="0"/>
                <a:cs typeface="Times New Roman" panose="02020603050405020304" pitchFamily="18" charset="0"/>
              </a:rPr>
              <a:t>Application</a:t>
            </a:r>
          </a:p>
        </p:txBody>
      </p:sp>
      <p:sp>
        <p:nvSpPr>
          <p:cNvPr id="5" name="Content Placeholder 2">
            <a:extLst>
              <a:ext uri="{FF2B5EF4-FFF2-40B4-BE49-F238E27FC236}">
                <a16:creationId xmlns:a16="http://schemas.microsoft.com/office/drawing/2014/main" id="{3A8DD400-D77F-1493-C5A1-8A9E0403A07E}"/>
              </a:ext>
            </a:extLst>
          </p:cNvPr>
          <p:cNvSpPr>
            <a:spLocks noGrp="1"/>
          </p:cNvSpPr>
          <p:nvPr>
            <p:ph idx="1"/>
          </p:nvPr>
        </p:nvSpPr>
        <p:spPr>
          <a:xfrm>
            <a:off x="385011" y="1283957"/>
            <a:ext cx="11166337" cy="5226571"/>
          </a:xfrm>
        </p:spPr>
        <p:txBody>
          <a:bodyPr>
            <a:normAutofit/>
          </a:bodyPr>
          <a:lstStyle/>
          <a:p>
            <a:pPr algn="just">
              <a:buFont typeface="Wingdings" panose="05000000000000000000" pitchFamily="2" charset="2"/>
              <a:buChar char="Ø"/>
            </a:pPr>
            <a:r>
              <a:rPr lang="en-IN" sz="2000" i="1" dirty="0"/>
              <a:t>Regenerative &amp; Personalized Medicine</a:t>
            </a:r>
          </a:p>
          <a:p>
            <a:pPr marL="342900" indent="-342900" algn="just">
              <a:buFont typeface="+mj-lt"/>
              <a:buAutoNum type="arabicParenR"/>
            </a:pPr>
            <a:r>
              <a:rPr lang="en-IN" sz="2000" i="1" dirty="0"/>
              <a:t>Developing targeted viral-vector designs to treat genetic disorders and rare conditions.</a:t>
            </a:r>
          </a:p>
          <a:p>
            <a:pPr marL="342900" indent="-342900" algn="just">
              <a:buFont typeface="+mj-lt"/>
              <a:buAutoNum type="arabicParenR"/>
            </a:pPr>
            <a:r>
              <a:rPr lang="en-IN" sz="2000" i="1" dirty="0"/>
              <a:t>Researching cell-culture modifications to manufacture custom, personalized treatments for oncology (cancer care) and tissue regeneration.</a:t>
            </a:r>
          </a:p>
          <a:p>
            <a:pPr marL="0" indent="0" algn="just">
              <a:buNone/>
            </a:pPr>
            <a:endParaRPr lang="en-IN" sz="2000" i="1" dirty="0"/>
          </a:p>
          <a:p>
            <a:pPr algn="just">
              <a:buFont typeface="Wingdings" panose="05000000000000000000" pitchFamily="2" charset="2"/>
              <a:buChar char="Ø"/>
            </a:pPr>
            <a:r>
              <a:rPr lang="en-IN" sz="2000" i="1" dirty="0"/>
              <a:t>Probiotics &amp; Gastrointestinal Health</a:t>
            </a:r>
          </a:p>
          <a:p>
            <a:pPr marL="342900" indent="-342900" algn="just">
              <a:buFont typeface="+mj-lt"/>
              <a:buAutoNum type="arabicParenR"/>
            </a:pPr>
            <a:r>
              <a:rPr lang="en-IN" sz="2000" i="1" dirty="0"/>
              <a:t>Through products like </a:t>
            </a:r>
            <a:r>
              <a:rPr lang="en-IN" sz="2000" i="1" dirty="0" err="1"/>
              <a:t>Biogit</a:t>
            </a:r>
            <a:r>
              <a:rPr lang="en-IN" sz="2000" i="1" dirty="0"/>
              <a:t>®, they apply specific therapeutic probiotic yeast strains (Saccharomyces </a:t>
            </a:r>
            <a:r>
              <a:rPr lang="en-IN" sz="2000" i="1" dirty="0" err="1"/>
              <a:t>boulardii</a:t>
            </a:r>
            <a:r>
              <a:rPr lang="en-IN" sz="2000" i="1" dirty="0"/>
              <a:t>) to manage gut health, balance internal flora, and treat acute diarrhoea</a:t>
            </a:r>
          </a:p>
          <a:p>
            <a:pPr marL="342900" indent="-342900" algn="just">
              <a:buAutoNum type="arabicParenR"/>
            </a:pPr>
            <a:endParaRPr lang="en-IN" sz="1800" i="1" dirty="0"/>
          </a:p>
        </p:txBody>
      </p:sp>
    </p:spTree>
    <p:extLst>
      <p:ext uri="{BB962C8B-B14F-4D97-AF65-F5344CB8AC3E}">
        <p14:creationId xmlns:p14="http://schemas.microsoft.com/office/powerpoint/2010/main" val="1708343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78BA2403-86C5-9A4C-3FE9-671E0E36200F}"/>
            </a:ext>
          </a:extLst>
        </p:cNvPr>
        <p:cNvGrpSpPr/>
        <p:nvPr/>
      </p:nvGrpSpPr>
      <p:grpSpPr>
        <a:xfrm>
          <a:off x="0" y="0"/>
          <a:ext cx="0" cy="0"/>
          <a:chOff x="0" y="0"/>
          <a:chExt cx="0" cy="0"/>
        </a:xfrm>
      </p:grpSpPr>
      <p:pic>
        <p:nvPicPr>
          <p:cNvPr id="7" name="Picture 6" descr="HR Philosophy - Bharat Biotech - A Leading Biotech Company">
            <a:extLst>
              <a:ext uri="{FF2B5EF4-FFF2-40B4-BE49-F238E27FC236}">
                <a16:creationId xmlns:a16="http://schemas.microsoft.com/office/drawing/2014/main" id="{95109065-2B94-3771-6B26-AEF10D6F4546}"/>
              </a:ext>
            </a:extLst>
          </p:cNvPr>
          <p:cNvPicPr>
            <a:picLocks noChangeAspect="1"/>
          </p:cNvPicPr>
          <p:nvPr/>
        </p:nvPicPr>
        <p:blipFill>
          <a:blip r:embed="rId2">
            <a:alphaModFix amt="32000"/>
          </a:blip>
          <a:stretch>
            <a:fillRect/>
          </a:stretch>
        </p:blipFill>
        <p:spPr>
          <a:xfrm>
            <a:off x="0" y="0"/>
            <a:ext cx="12192000" cy="6867197"/>
          </a:xfrm>
          <a:prstGeom prst="rect">
            <a:avLst/>
          </a:prstGeom>
        </p:spPr>
      </p:pic>
      <p:sp>
        <p:nvSpPr>
          <p:cNvPr id="4" name="Title 1">
            <a:extLst>
              <a:ext uri="{FF2B5EF4-FFF2-40B4-BE49-F238E27FC236}">
                <a16:creationId xmlns:a16="http://schemas.microsoft.com/office/drawing/2014/main" id="{B200B228-BDEA-B1A3-6A1B-C20FD049F4C5}"/>
              </a:ext>
            </a:extLst>
          </p:cNvPr>
          <p:cNvSpPr>
            <a:spLocks noGrp="1"/>
          </p:cNvSpPr>
          <p:nvPr>
            <p:ph type="title"/>
          </p:nvPr>
        </p:nvSpPr>
        <p:spPr>
          <a:xfrm>
            <a:off x="640652" y="503656"/>
            <a:ext cx="3657028" cy="563118"/>
          </a:xfrm>
        </p:spPr>
        <p:txBody>
          <a:bodyPr>
            <a:normAutofit fontScale="90000"/>
          </a:bodyPr>
          <a:lstStyle/>
          <a:p>
            <a:r>
              <a:rPr lang="en-IN" u="sng" dirty="0">
                <a:latin typeface="Times New Roman" panose="02020603050405020304" pitchFamily="18" charset="0"/>
                <a:cs typeface="Times New Roman" panose="02020603050405020304" pitchFamily="18" charset="0"/>
              </a:rPr>
              <a:t>Market Impact </a:t>
            </a:r>
          </a:p>
        </p:txBody>
      </p:sp>
      <p:sp>
        <p:nvSpPr>
          <p:cNvPr id="5" name="Content Placeholder 2">
            <a:extLst>
              <a:ext uri="{FF2B5EF4-FFF2-40B4-BE49-F238E27FC236}">
                <a16:creationId xmlns:a16="http://schemas.microsoft.com/office/drawing/2014/main" id="{DF9235CE-E79B-A0D4-C70A-F8ED17024F5F}"/>
              </a:ext>
            </a:extLst>
          </p:cNvPr>
          <p:cNvSpPr>
            <a:spLocks noGrp="1"/>
          </p:cNvSpPr>
          <p:nvPr>
            <p:ph idx="1"/>
          </p:nvPr>
        </p:nvSpPr>
        <p:spPr>
          <a:xfrm>
            <a:off x="258038" y="1256525"/>
            <a:ext cx="9350301" cy="5226571"/>
          </a:xfrm>
        </p:spPr>
        <p:txBody>
          <a:bodyPr>
            <a:normAutofit/>
          </a:bodyPr>
          <a:lstStyle/>
          <a:p>
            <a:pPr algn="just">
              <a:buFont typeface="Wingdings" panose="05000000000000000000" pitchFamily="2" charset="2"/>
              <a:buChar char="Ø"/>
            </a:pPr>
            <a:r>
              <a:rPr lang="en-IN" sz="1800" i="1" dirty="0"/>
              <a:t>Before </a:t>
            </a:r>
            <a:r>
              <a:rPr lang="en-IN" sz="1800" i="1" dirty="0" err="1"/>
              <a:t>Typbar</a:t>
            </a:r>
            <a:r>
              <a:rPr lang="en-IN" sz="1800" i="1" dirty="0"/>
              <a:t> TCV®, typhoid vaccines required booster doses and were unsuitable for infants under two years old. Bharat Biotech’s vaccine provided protection for infants as young as 6 months. Offered at public health prices of ~$1.50 per dose (compared to Western alternatives costing over $30 in private markets), it forced a global market reset.</a:t>
            </a:r>
          </a:p>
          <a:p>
            <a:pPr algn="just">
              <a:buFont typeface="Wingdings" panose="05000000000000000000" pitchFamily="2" charset="2"/>
              <a:buChar char="Ø"/>
            </a:pPr>
            <a:r>
              <a:rPr lang="en-IN" sz="1800" i="1" dirty="0"/>
              <a:t>Prior to ROTAVAC®, two multinational pharma giants dominated the global rotavirus vaccine market with prices exceeding $5–$15 per dose. Bharat Biotech launched ROTAVAC® at $1.00 per dose, cutting the cost of rotavirus prevention by over 70% globally and expanding public access across Asia and Africa.</a:t>
            </a:r>
          </a:p>
          <a:p>
            <a:pPr algn="just">
              <a:buFont typeface="Wingdings" panose="05000000000000000000" pitchFamily="2" charset="2"/>
              <a:buChar char="Ø"/>
            </a:pPr>
            <a:r>
              <a:rPr lang="en-IN" sz="1800" i="1" dirty="0"/>
              <a:t>Bharat Biotech entered a milestone technology-transfer agreement with GlaxoSmithKline (GSK) and PATH to scale up manufacturing of the RTS,S/AS01 malaria vaccine. By taking over production, Bharat Biotech is driving down costs for LMICs</a:t>
            </a:r>
          </a:p>
          <a:p>
            <a:pPr algn="just">
              <a:buFont typeface="Wingdings" panose="05000000000000000000" pitchFamily="2" charset="2"/>
              <a:buChar char="Ø"/>
            </a:pPr>
            <a:r>
              <a:rPr lang="en-IN" sz="1800" i="1" dirty="0"/>
              <a:t>As a key supplier to UNICEF, PAHO (Pan American Health Organization), and Gavi, the company provides sustainable, low-cost immunizations that save global health agencies hundreds of millions of dollars in procurement budgets.</a:t>
            </a:r>
          </a:p>
          <a:p>
            <a:pPr algn="just">
              <a:buFont typeface="Wingdings" panose="05000000000000000000" pitchFamily="2" charset="2"/>
              <a:buChar char="Ø"/>
            </a:pPr>
            <a:r>
              <a:rPr lang="en-IN" sz="1800" i="1" dirty="0"/>
              <a:t>the Indian pharmaceutical industry focused primarily on generic small-molecule drugs. Bharat Biotech pushed the industry toward first-in-class biologics and novel platforms (e.g., world's first thiomersal-free Hepatitis-B vaccine, novel adjuvants like TLR7/8 agonists, and needle-free intranasal delivery platforms).</a:t>
            </a:r>
          </a:p>
        </p:txBody>
      </p:sp>
      <p:sp>
        <p:nvSpPr>
          <p:cNvPr id="2" name="Rectangle 1">
            <a:extLst>
              <a:ext uri="{FF2B5EF4-FFF2-40B4-BE49-F238E27FC236}">
                <a16:creationId xmlns:a16="http://schemas.microsoft.com/office/drawing/2014/main" id="{D41BBFB6-9DB6-1215-56A2-F8A0E3EC79AE}"/>
              </a:ext>
            </a:extLst>
          </p:cNvPr>
          <p:cNvSpPr/>
          <p:nvPr/>
        </p:nvSpPr>
        <p:spPr>
          <a:xfrm>
            <a:off x="9739402" y="1338446"/>
            <a:ext cx="2194560" cy="1444752"/>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9CADB805-6CD8-7D08-34E4-A77F3B7E61D7}"/>
              </a:ext>
            </a:extLst>
          </p:cNvPr>
          <p:cNvSpPr/>
          <p:nvPr/>
        </p:nvSpPr>
        <p:spPr>
          <a:xfrm>
            <a:off x="9980194" y="1556378"/>
            <a:ext cx="1712976" cy="1008888"/>
          </a:xfrm>
          <a:prstGeom prst="rect">
            <a:avLst/>
          </a:prstGeom>
          <a:solidFill>
            <a:srgbClr val="CFFDCB"/>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i="1" dirty="0">
                <a:solidFill>
                  <a:sysClr val="windowText" lastClr="000000"/>
                </a:solidFill>
                <a:latin typeface="Times New Roman" panose="02020603050405020304" pitchFamily="18" charset="0"/>
                <a:cs typeface="Times New Roman" panose="02020603050405020304" pitchFamily="18" charset="0"/>
              </a:rPr>
              <a:t>Total doses delivered </a:t>
            </a:r>
          </a:p>
          <a:p>
            <a:pPr algn="ctr"/>
            <a:endParaRPr lang="en-IN" sz="1400" i="1" dirty="0">
              <a:solidFill>
                <a:sysClr val="windowText" lastClr="000000"/>
              </a:solidFill>
              <a:latin typeface="Times New Roman" panose="02020603050405020304" pitchFamily="18" charset="0"/>
              <a:cs typeface="Times New Roman" panose="02020603050405020304" pitchFamily="18" charset="0"/>
            </a:endParaRPr>
          </a:p>
          <a:p>
            <a:pPr algn="ctr"/>
            <a:r>
              <a:rPr lang="en-IN" sz="2400" i="1" dirty="0">
                <a:solidFill>
                  <a:sysClr val="windowText" lastClr="000000"/>
                </a:solidFill>
                <a:latin typeface="Times New Roman" panose="02020603050405020304" pitchFamily="18" charset="0"/>
                <a:cs typeface="Times New Roman" panose="02020603050405020304" pitchFamily="18" charset="0"/>
              </a:rPr>
              <a:t>&gt;10 Billion</a:t>
            </a:r>
          </a:p>
        </p:txBody>
      </p:sp>
      <p:sp>
        <p:nvSpPr>
          <p:cNvPr id="11" name="Rectangle 10">
            <a:extLst>
              <a:ext uri="{FF2B5EF4-FFF2-40B4-BE49-F238E27FC236}">
                <a16:creationId xmlns:a16="http://schemas.microsoft.com/office/drawing/2014/main" id="{1E704BF3-164E-47AE-8928-D11C25FE59C7}"/>
              </a:ext>
            </a:extLst>
          </p:cNvPr>
          <p:cNvSpPr/>
          <p:nvPr/>
        </p:nvSpPr>
        <p:spPr>
          <a:xfrm>
            <a:off x="9739402" y="2889878"/>
            <a:ext cx="2194560" cy="1444752"/>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3" name="Rectangle 12">
            <a:extLst>
              <a:ext uri="{FF2B5EF4-FFF2-40B4-BE49-F238E27FC236}">
                <a16:creationId xmlns:a16="http://schemas.microsoft.com/office/drawing/2014/main" id="{E5E80B90-5CE1-B59A-91FE-4B4BBE8A876A}"/>
              </a:ext>
            </a:extLst>
          </p:cNvPr>
          <p:cNvSpPr/>
          <p:nvPr/>
        </p:nvSpPr>
        <p:spPr>
          <a:xfrm>
            <a:off x="9980194" y="3107810"/>
            <a:ext cx="1712976" cy="1008888"/>
          </a:xfrm>
          <a:prstGeom prst="rect">
            <a:avLst/>
          </a:prstGeom>
          <a:solidFill>
            <a:srgbClr val="CFFDCB"/>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i="1" dirty="0">
                <a:solidFill>
                  <a:sysClr val="windowText" lastClr="000000"/>
                </a:solidFill>
                <a:latin typeface="Times New Roman" panose="02020603050405020304" pitchFamily="18" charset="0"/>
                <a:cs typeface="Times New Roman" panose="02020603050405020304" pitchFamily="18" charset="0"/>
              </a:rPr>
              <a:t>Global</a:t>
            </a:r>
            <a:r>
              <a:rPr lang="en-IN" sz="1400" i="1" dirty="0">
                <a:latin typeface="Times New Roman" panose="02020603050405020304" pitchFamily="18" charset="0"/>
                <a:cs typeface="Times New Roman" panose="02020603050405020304" pitchFamily="18" charset="0"/>
              </a:rPr>
              <a:t> Footprint </a:t>
            </a:r>
            <a:r>
              <a:rPr lang="en-IN" sz="2400" i="1" dirty="0">
                <a:latin typeface="Times New Roman" panose="02020603050405020304" pitchFamily="18" charset="0"/>
                <a:cs typeface="Times New Roman" panose="02020603050405020304" pitchFamily="18" charset="0"/>
              </a:rPr>
              <a:t>+125 countries</a:t>
            </a:r>
            <a:endParaRPr lang="en-IN" sz="1400" i="1"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58AE8E46-D401-697D-3F5F-DD9F4407D686}"/>
              </a:ext>
            </a:extLst>
          </p:cNvPr>
          <p:cNvSpPr/>
          <p:nvPr/>
        </p:nvSpPr>
        <p:spPr>
          <a:xfrm>
            <a:off x="9739402" y="4541894"/>
            <a:ext cx="2194560" cy="1444752"/>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85C26108-84D3-70E6-5846-E327E977162A}"/>
              </a:ext>
            </a:extLst>
          </p:cNvPr>
          <p:cNvSpPr/>
          <p:nvPr/>
        </p:nvSpPr>
        <p:spPr>
          <a:xfrm>
            <a:off x="9980194" y="4759826"/>
            <a:ext cx="1712976" cy="1008888"/>
          </a:xfrm>
          <a:prstGeom prst="rect">
            <a:avLst/>
          </a:prstGeom>
          <a:solidFill>
            <a:srgbClr val="CFFDCB"/>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i="1" dirty="0">
                <a:solidFill>
                  <a:sysClr val="windowText" lastClr="000000"/>
                </a:solidFill>
                <a:latin typeface="Times New Roman" panose="02020603050405020304" pitchFamily="18" charset="0"/>
                <a:cs typeface="Times New Roman" panose="02020603050405020304" pitchFamily="18" charset="0"/>
              </a:rPr>
              <a:t>Annual Production Capacity</a:t>
            </a:r>
          </a:p>
          <a:p>
            <a:pPr algn="ctr"/>
            <a:r>
              <a:rPr lang="en-IN" sz="2400" i="1" dirty="0">
                <a:solidFill>
                  <a:sysClr val="windowText" lastClr="000000"/>
                </a:solidFill>
                <a:latin typeface="Times New Roman" panose="02020603050405020304" pitchFamily="18" charset="0"/>
                <a:cs typeface="Times New Roman" panose="02020603050405020304" pitchFamily="18" charset="0"/>
              </a:rPr>
              <a:t>4 Billion</a:t>
            </a:r>
          </a:p>
        </p:txBody>
      </p:sp>
    </p:spTree>
    <p:extLst>
      <p:ext uri="{BB962C8B-B14F-4D97-AF65-F5344CB8AC3E}">
        <p14:creationId xmlns:p14="http://schemas.microsoft.com/office/powerpoint/2010/main" val="3866141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TotalTime>
  <Words>2102</Words>
  <Application>Microsoft Office PowerPoint</Application>
  <PresentationFormat>Widescreen</PresentationFormat>
  <Paragraphs>89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Bharat Biotech</vt:lpstr>
      <vt:lpstr>Introduction</vt:lpstr>
      <vt:lpstr>Products </vt:lpstr>
      <vt:lpstr>Products </vt:lpstr>
      <vt:lpstr>Products </vt:lpstr>
      <vt:lpstr>Products </vt:lpstr>
      <vt:lpstr>Challenges</vt:lpstr>
      <vt:lpstr>Application</vt:lpstr>
      <vt:lpstr>Application</vt:lpstr>
      <vt:lpstr>Market Impact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Izhan</dc:creator>
  <cp:lastModifiedBy>Mohammed Izhan</cp:lastModifiedBy>
  <cp:revision>2</cp:revision>
  <dcterms:created xsi:type="dcterms:W3CDTF">2026-09-28T02:31:01Z</dcterms:created>
  <dcterms:modified xsi:type="dcterms:W3CDTF">2026-09-30T16:41:23Z</dcterms:modified>
</cp:coreProperties>
</file>